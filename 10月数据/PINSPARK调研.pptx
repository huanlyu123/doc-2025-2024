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256" r:id="rId4"/>
    <p:sldId id="284" r:id="rId5"/>
    <p:sldId id="269" r:id="rId6"/>
    <p:sldId id="258" r:id="rId7"/>
    <p:sldId id="259" r:id="rId8"/>
    <p:sldId id="262" r:id="rId9"/>
    <p:sldId id="276" r:id="rId10"/>
    <p:sldId id="275" r:id="rId11"/>
    <p:sldId id="278" r:id="rId12"/>
    <p:sldId id="277" r:id="rId14"/>
    <p:sldId id="279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4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dmin\Desktop\9&#26376;&#25968;&#25454;\pp_US_&#20154;&#21475;&#32479;&#35745;&#25968;&#25454;_&#31616;&#21333;_p4Q_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admin\Desktop\9&#26376;&#25968;&#25454;\pp_US_&#20154;&#21475;&#32479;&#35745;&#25968;&#25454;_&#31616;&#21333;_p4Q_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dmin\Desktop\9&#26376;&#25968;&#25454;\pp_US_&#20154;&#21475;&#32479;&#35745;&#25968;&#25454;_&#31616;&#21333;_p4Q_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admin\Desktop\9&#26376;&#25968;&#25454;\pp_US_&#20154;&#21475;&#32479;&#35745;&#25968;&#25454;_&#31616;&#21333;_p4Q_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admin\Desktop\9&#26376;&#25968;&#25454;\pp_US_&#20154;&#21475;&#32479;&#35745;&#25968;&#25454;_&#31616;&#21333;_p4Q_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[工作簿1]Sheet1!数据透视表6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以上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Best seller</a:t>
            </a:r>
            <a:endParaRPr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月销量分布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>
        <c:manualLayout>
          <c:xMode val="edge"/>
          <c:yMode val="edge"/>
          <c:x val="0.137117031233841"/>
          <c:y val="0.012741931389540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[工作簿1]Sheet1!$B$3</c:f>
              <c:strCache>
                <c:ptCount val="1"/>
                <c:pt idx="0">
                  <c:v>汇总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4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5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6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7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8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59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0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1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2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3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4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5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7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8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69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1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2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3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4"/>
            <c:bubble3D val="0"/>
            <c:spPr>
              <a:solidFill>
                <a:schemeClr val="accent3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5"/>
            <c:bubble3D val="0"/>
            <c:spPr>
              <a:solidFill>
                <a:schemeClr val="accent4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6"/>
            <c:bubble3D val="0"/>
            <c:spPr>
              <a:solidFill>
                <a:schemeClr val="accent5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7"/>
            <c:bubble3D val="0"/>
            <c:spPr>
              <a:solidFill>
                <a:schemeClr val="accent6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8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79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4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5"/>
            <c:bubble3D val="0"/>
            <c:spPr>
              <a:solidFill>
                <a:schemeClr val="accent2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6"/>
            <c:bubble3D val="0"/>
            <c:spPr>
              <a:solidFill>
                <a:schemeClr val="accent3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7"/>
            <c:bubble3D val="0"/>
            <c:spPr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8"/>
            <c:bubble3D val="0"/>
            <c:spPr>
              <a:solidFill>
                <a:schemeClr val="accent5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89"/>
            <c:bubble3D val="0"/>
            <c:spPr>
              <a:solidFill>
                <a:schemeClr val="accent6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0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1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2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3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4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5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6"/>
            <c:bubble3D val="0"/>
            <c:spPr>
              <a:solidFill>
                <a:schemeClr val="accent1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7"/>
            <c:bubble3D val="0"/>
            <c:spPr>
              <a:solidFill>
                <a:schemeClr val="accent2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8"/>
            <c:bubble3D val="0"/>
            <c:spPr>
              <a:solidFill>
                <a:schemeClr val="accent3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99"/>
            <c:bubble3D val="0"/>
            <c:spPr>
              <a:solidFill>
                <a:schemeClr val="accent4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0"/>
            <c:bubble3D val="0"/>
            <c:spPr>
              <a:solidFill>
                <a:schemeClr val="accent5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1"/>
            <c:bubble3D val="0"/>
            <c:spPr>
              <a:solidFill>
                <a:schemeClr val="accent6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2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3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4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5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6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7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8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09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0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1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2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3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4"/>
            <c:bubble3D val="0"/>
            <c:spPr>
              <a:solidFill>
                <a:schemeClr val="accent1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5"/>
            <c:bubble3D val="0"/>
            <c:spPr>
              <a:solidFill>
                <a:schemeClr val="accent2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6"/>
            <c:bubble3D val="0"/>
            <c:spPr>
              <a:solidFill>
                <a:schemeClr val="accent3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7"/>
            <c:bubble3D val="0"/>
            <c:spPr>
              <a:solidFill>
                <a:schemeClr val="accent4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8"/>
            <c:bubble3D val="0"/>
            <c:spPr>
              <a:solidFill>
                <a:schemeClr val="accent5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19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1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2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3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4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5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6"/>
            <c:bubble3D val="0"/>
            <c:spPr>
              <a:solidFill>
                <a:schemeClr val="accent1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7"/>
            <c:bubble3D val="0"/>
            <c:spPr>
              <a:solidFill>
                <a:schemeClr val="accent2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8"/>
            <c:bubble3D val="0"/>
            <c:spPr>
              <a:solidFill>
                <a:schemeClr val="accent3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29"/>
            <c:bubble3D val="0"/>
            <c:spPr>
              <a:solidFill>
                <a:schemeClr val="accent4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0"/>
            <c:bubble3D val="0"/>
            <c:spPr>
              <a:solidFill>
                <a:schemeClr val="accent5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1"/>
            <c:bubble3D val="0"/>
            <c:spPr>
              <a:solidFill>
                <a:schemeClr val="accent6">
                  <a:lumMod val="8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2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4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5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6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7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8"/>
            <c:bubble3D val="0"/>
            <c:spPr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39"/>
            <c:bubble3D val="0"/>
            <c:spPr>
              <a:solidFill>
                <a:schemeClr val="accent2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0"/>
            <c:bubble3D val="0"/>
            <c:spPr>
              <a:solidFill>
                <a:schemeClr val="accent3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1"/>
            <c:bubble3D val="0"/>
            <c:spPr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2"/>
            <c:bubble3D val="0"/>
            <c:spPr>
              <a:solidFill>
                <a:schemeClr val="accent5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3"/>
            <c:bubble3D val="0"/>
            <c:spPr>
              <a:solidFill>
                <a:schemeClr val="accent6">
                  <a:lumMod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4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5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6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7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8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49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0"/>
            <c:bubble3D val="0"/>
            <c:spPr>
              <a:solidFill>
                <a:schemeClr val="accent1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1"/>
            <c:bubble3D val="0"/>
            <c:spPr>
              <a:solidFill>
                <a:schemeClr val="accent2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2"/>
            <c:bubble3D val="0"/>
            <c:spPr>
              <a:solidFill>
                <a:schemeClr val="accent3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3"/>
            <c:bubble3D val="0"/>
            <c:spPr>
              <a:solidFill>
                <a:schemeClr val="accent4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4"/>
            <c:bubble3D val="0"/>
            <c:spPr>
              <a:solidFill>
                <a:schemeClr val="accent5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5"/>
            <c:bubble3D val="0"/>
            <c:spPr>
              <a:solidFill>
                <a:schemeClr val="accent6">
                  <a:lumMod val="7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6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57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Lbl>
              <c:idx val="0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5957842529448"/>
                      <c:h val="0.10245253164557"/>
                    </c:manualLayout>
                  </c15:layout>
                </c:ext>
              </c:extLst>
            </c:dLbl>
            <c:dLbl>
              <c:idx val="4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6745195288283"/>
                      <c:h val="0.112341772151899"/>
                    </c:manualLayout>
                  </c15:layout>
                </c:ext>
              </c:extLst>
            </c:dLbl>
            <c:dLbl>
              <c:idx val="6"/>
              <c:layout>
                <c:manualLayout>
                  <c:x val="0.0415723071676449"/>
                  <c:y val="0.027660897280811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008059516429"/>
                      <c:h val="0.139240506329114"/>
                    </c:manualLayout>
                  </c15:layout>
                </c:ext>
              </c:extLst>
            </c:dLbl>
            <c:dLbl>
              <c:idx val="7"/>
              <c:delete val="1"/>
            </c:dLbl>
            <c:dLbl>
              <c:idx val="8"/>
              <c:layout>
                <c:manualLayout>
                  <c:x val="0.00688943195980887"/>
                  <c:y val="0.0435192968535161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dLbl>
              <c:idx val="49"/>
              <c:delete val="1"/>
            </c:dLbl>
            <c:dLbl>
              <c:idx val="50"/>
              <c:delete val="1"/>
            </c:dLbl>
            <c:dLbl>
              <c:idx val="51"/>
              <c:delete val="1"/>
            </c:dLbl>
            <c:dLbl>
              <c:idx val="52"/>
              <c:delete val="1"/>
            </c:dLbl>
            <c:dLbl>
              <c:idx val="53"/>
              <c:delete val="1"/>
            </c:dLbl>
            <c:dLbl>
              <c:idx val="54"/>
              <c:delete val="1"/>
            </c:dLbl>
            <c:dLbl>
              <c:idx val="55"/>
              <c:delete val="1"/>
            </c:dLbl>
            <c:dLbl>
              <c:idx val="56"/>
              <c:delete val="1"/>
            </c:dLbl>
            <c:dLbl>
              <c:idx val="57"/>
              <c:delete val="1"/>
            </c:dLbl>
            <c:dLbl>
              <c:idx val="58"/>
              <c:delete val="1"/>
            </c:dLbl>
            <c:dLbl>
              <c:idx val="59"/>
              <c:delete val="1"/>
            </c:dLbl>
            <c:dLbl>
              <c:idx val="60"/>
              <c:delete val="1"/>
            </c:dLbl>
            <c:dLbl>
              <c:idx val="61"/>
              <c:delete val="1"/>
            </c:dLbl>
            <c:dLbl>
              <c:idx val="62"/>
              <c:delete val="1"/>
            </c:dLbl>
            <c:dLbl>
              <c:idx val="63"/>
              <c:delete val="1"/>
            </c:dLbl>
            <c:dLbl>
              <c:idx val="64"/>
              <c:delete val="1"/>
            </c:dLbl>
            <c:dLbl>
              <c:idx val="65"/>
              <c:delete val="1"/>
            </c:dLbl>
            <c:dLbl>
              <c:idx val="66"/>
              <c:delete val="1"/>
            </c:dLbl>
            <c:dLbl>
              <c:idx val="67"/>
              <c:delete val="1"/>
            </c:dLbl>
            <c:dLbl>
              <c:idx val="68"/>
              <c:delete val="1"/>
            </c:dLbl>
            <c:dLbl>
              <c:idx val="69"/>
              <c:delete val="1"/>
            </c:dLbl>
            <c:dLbl>
              <c:idx val="70"/>
              <c:delete val="1"/>
            </c:dLbl>
            <c:dLbl>
              <c:idx val="71"/>
              <c:delete val="1"/>
            </c:dLbl>
            <c:dLbl>
              <c:idx val="72"/>
              <c:delete val="1"/>
            </c:dLbl>
            <c:dLbl>
              <c:idx val="73"/>
              <c:delete val="1"/>
            </c:dLbl>
            <c:dLbl>
              <c:idx val="74"/>
              <c:delete val="1"/>
            </c:dLbl>
            <c:dLbl>
              <c:idx val="75"/>
              <c:delete val="1"/>
            </c:dLbl>
            <c:dLbl>
              <c:idx val="76"/>
              <c:delete val="1"/>
            </c:dLbl>
            <c:dLbl>
              <c:idx val="77"/>
              <c:delete val="1"/>
            </c:dLbl>
            <c:dLbl>
              <c:idx val="78"/>
              <c:delete val="1"/>
            </c:dLbl>
            <c:dLbl>
              <c:idx val="79"/>
              <c:delete val="1"/>
            </c:dLbl>
            <c:dLbl>
              <c:idx val="80"/>
              <c:delete val="1"/>
            </c:dLbl>
            <c:dLbl>
              <c:idx val="81"/>
              <c:delete val="1"/>
            </c:dLbl>
            <c:dLbl>
              <c:idx val="82"/>
              <c:delete val="1"/>
            </c:dLbl>
            <c:dLbl>
              <c:idx val="83"/>
              <c:delete val="1"/>
            </c:dLbl>
            <c:dLbl>
              <c:idx val="84"/>
              <c:delete val="1"/>
            </c:dLbl>
            <c:dLbl>
              <c:idx val="85"/>
              <c:delete val="1"/>
            </c:dLbl>
            <c:dLbl>
              <c:idx val="86"/>
              <c:delete val="1"/>
            </c:dLbl>
            <c:dLbl>
              <c:idx val="87"/>
              <c:delete val="1"/>
            </c:dLbl>
            <c:dLbl>
              <c:idx val="88"/>
              <c:delete val="1"/>
            </c:dLbl>
            <c:dLbl>
              <c:idx val="89"/>
              <c:delete val="1"/>
            </c:dLbl>
            <c:dLbl>
              <c:idx val="90"/>
              <c:delete val="1"/>
            </c:dLbl>
            <c:dLbl>
              <c:idx val="91"/>
              <c:delete val="1"/>
            </c:dLbl>
            <c:dLbl>
              <c:idx val="92"/>
              <c:delete val="1"/>
            </c:dLbl>
            <c:dLbl>
              <c:idx val="93"/>
              <c:delete val="1"/>
            </c:dLbl>
            <c:dLbl>
              <c:idx val="94"/>
              <c:delete val="1"/>
            </c:dLbl>
            <c:dLbl>
              <c:idx val="95"/>
              <c:delete val="1"/>
            </c:dLbl>
            <c:dLbl>
              <c:idx val="96"/>
              <c:delete val="1"/>
            </c:dLbl>
            <c:dLbl>
              <c:idx val="97"/>
              <c:delete val="1"/>
            </c:dLbl>
            <c:dLbl>
              <c:idx val="98"/>
              <c:delete val="1"/>
            </c:dLbl>
            <c:dLbl>
              <c:idx val="99"/>
              <c:delete val="1"/>
            </c:dLbl>
            <c:dLbl>
              <c:idx val="100"/>
              <c:delete val="1"/>
            </c:dLbl>
            <c:dLbl>
              <c:idx val="101"/>
              <c:delete val="1"/>
            </c:dLbl>
            <c:dLbl>
              <c:idx val="102"/>
              <c:delete val="1"/>
            </c:dLbl>
            <c:dLbl>
              <c:idx val="103"/>
              <c:delete val="1"/>
            </c:dLbl>
            <c:dLbl>
              <c:idx val="104"/>
              <c:delete val="1"/>
            </c:dLbl>
            <c:dLbl>
              <c:idx val="105"/>
              <c:delete val="1"/>
            </c:dLbl>
            <c:dLbl>
              <c:idx val="106"/>
              <c:delete val="1"/>
            </c:dLbl>
            <c:dLbl>
              <c:idx val="107"/>
              <c:delete val="1"/>
            </c:dLbl>
            <c:dLbl>
              <c:idx val="108"/>
              <c:delete val="1"/>
            </c:dLbl>
            <c:dLbl>
              <c:idx val="109"/>
              <c:delete val="1"/>
            </c:dLbl>
            <c:dLbl>
              <c:idx val="110"/>
              <c:delete val="1"/>
            </c:dLbl>
            <c:dLbl>
              <c:idx val="111"/>
              <c:delete val="1"/>
            </c:dLbl>
            <c:dLbl>
              <c:idx val="112"/>
              <c:delete val="1"/>
            </c:dLbl>
            <c:dLbl>
              <c:idx val="113"/>
              <c:delete val="1"/>
            </c:dLbl>
            <c:dLbl>
              <c:idx val="114"/>
              <c:delete val="1"/>
            </c:dLbl>
            <c:dLbl>
              <c:idx val="115"/>
              <c:delete val="1"/>
            </c:dLbl>
            <c:dLbl>
              <c:idx val="116"/>
              <c:delete val="1"/>
            </c:dLbl>
            <c:dLbl>
              <c:idx val="117"/>
              <c:delete val="1"/>
            </c:dLbl>
            <c:dLbl>
              <c:idx val="118"/>
              <c:delete val="1"/>
            </c:dLbl>
            <c:dLbl>
              <c:idx val="119"/>
              <c:delete val="1"/>
            </c:dLbl>
            <c:dLbl>
              <c:idx val="120"/>
              <c:delete val="1"/>
            </c:dLbl>
            <c:dLbl>
              <c:idx val="121"/>
              <c:delete val="1"/>
            </c:dLbl>
            <c:dLbl>
              <c:idx val="122"/>
              <c:delete val="1"/>
            </c:dLbl>
            <c:dLbl>
              <c:idx val="123"/>
              <c:delete val="1"/>
            </c:dLbl>
            <c:dLbl>
              <c:idx val="124"/>
              <c:delete val="1"/>
            </c:dLbl>
            <c:dLbl>
              <c:idx val="125"/>
              <c:delete val="1"/>
            </c:dLbl>
            <c:dLbl>
              <c:idx val="126"/>
              <c:delete val="1"/>
            </c:dLbl>
            <c:dLbl>
              <c:idx val="127"/>
              <c:delete val="1"/>
            </c:dLbl>
            <c:dLbl>
              <c:idx val="128"/>
              <c:delete val="1"/>
            </c:dLbl>
            <c:dLbl>
              <c:idx val="129"/>
              <c:delete val="1"/>
            </c:dLbl>
            <c:dLbl>
              <c:idx val="130"/>
              <c:delete val="1"/>
            </c:dLbl>
            <c:dLbl>
              <c:idx val="131"/>
              <c:delete val="1"/>
            </c:dLbl>
            <c:dLbl>
              <c:idx val="132"/>
              <c:delete val="1"/>
            </c:dLbl>
            <c:dLbl>
              <c:idx val="133"/>
              <c:delete val="1"/>
            </c:dLbl>
            <c:dLbl>
              <c:idx val="134"/>
              <c:delete val="1"/>
            </c:dLbl>
            <c:dLbl>
              <c:idx val="135"/>
              <c:delete val="1"/>
            </c:dLbl>
            <c:dLbl>
              <c:idx val="136"/>
              <c:delete val="1"/>
            </c:dLbl>
            <c:dLbl>
              <c:idx val="137"/>
              <c:delete val="1"/>
            </c:dLbl>
            <c:dLbl>
              <c:idx val="138"/>
              <c:delete val="1"/>
            </c:dLbl>
            <c:dLbl>
              <c:idx val="139"/>
              <c:delete val="1"/>
            </c:dLbl>
            <c:dLbl>
              <c:idx val="140"/>
              <c:delete val="1"/>
            </c:dLbl>
            <c:dLbl>
              <c:idx val="141"/>
              <c:delete val="1"/>
            </c:dLbl>
            <c:dLbl>
              <c:idx val="142"/>
              <c:delete val="1"/>
            </c:dLbl>
            <c:dLbl>
              <c:idx val="143"/>
              <c:delete val="1"/>
            </c:dLbl>
            <c:dLbl>
              <c:idx val="144"/>
              <c:delete val="1"/>
            </c:dLbl>
            <c:dLbl>
              <c:idx val="145"/>
              <c:delete val="1"/>
            </c:dLbl>
            <c:dLbl>
              <c:idx val="146"/>
              <c:delete val="1"/>
            </c:dLbl>
            <c:dLbl>
              <c:idx val="147"/>
              <c:delete val="1"/>
            </c:dLbl>
            <c:dLbl>
              <c:idx val="148"/>
              <c:delete val="1"/>
            </c:dLbl>
            <c:dLbl>
              <c:idx val="149"/>
              <c:delete val="1"/>
            </c:dLbl>
            <c:dLbl>
              <c:idx val="150"/>
              <c:delete val="1"/>
            </c:dLbl>
            <c:dLbl>
              <c:idx val="151"/>
              <c:delete val="1"/>
            </c:dLbl>
            <c:dLbl>
              <c:idx val="152"/>
              <c:delete val="1"/>
            </c:dLbl>
            <c:dLbl>
              <c:idx val="153"/>
              <c:delete val="1"/>
            </c:dLbl>
            <c:dLbl>
              <c:idx val="154"/>
              <c:delete val="1"/>
            </c:dLbl>
            <c:dLbl>
              <c:idx val="155"/>
              <c:delete val="1"/>
            </c:dLbl>
            <c:dLbl>
              <c:idx val="156"/>
              <c:delete val="1"/>
            </c:dLbl>
            <c:dLbl>
              <c:idx val="15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[工作簿1]Sheet1!$A$4:$A$162</c:f>
              <c:strCache>
                <c:ptCount val="158"/>
                <c:pt idx="0">
                  <c:v>CRZ YOGA</c:v>
                </c:pt>
                <c:pt idx="1">
                  <c:v>BALEAF</c:v>
                </c:pt>
                <c:pt idx="2">
                  <c:v>AUTOMET</c:v>
                </c:pt>
                <c:pt idx="3">
                  <c:v>THE GYM PEOPLE</c:v>
                </c:pt>
                <c:pt idx="4">
                  <c:v>G Gradual</c:v>
                </c:pt>
                <c:pt idx="5">
                  <c:v>Sunzel</c:v>
                </c:pt>
                <c:pt idx="6">
                  <c:v>Real Essentials</c:v>
                </c:pt>
                <c:pt idx="7">
                  <c:v>CAMPSNAIL</c:v>
                </c:pt>
                <c:pt idx="8">
                  <c:v>PINSPARK</c:v>
                </c:pt>
                <c:pt idx="9">
                  <c:v>BMJL</c:v>
                </c:pt>
                <c:pt idx="10">
                  <c:v>YEOREO</c:v>
                </c:pt>
                <c:pt idx="11">
                  <c:v>AUROLA</c:v>
                </c:pt>
                <c:pt idx="12">
                  <c:v>Fihapyli</c:v>
                </c:pt>
                <c:pt idx="13">
                  <c:v>SANTINY</c:v>
                </c:pt>
                <c:pt idx="14">
                  <c:v>Stelle</c:v>
                </c:pt>
                <c:pt idx="15">
                  <c:v>Under Armour</c:v>
                </c:pt>
                <c:pt idx="16">
                  <c:v>FULLSOFT</c:v>
                </c:pt>
                <c:pt idx="17">
                  <c:v>Leggings Depot</c:v>
                </c:pt>
                <c:pt idx="18">
                  <c:v>ODODOS</c:v>
                </c:pt>
                <c:pt idx="19">
                  <c:v>Blaosn</c:v>
                </c:pt>
                <c:pt idx="20">
                  <c:v>Hanes</c:v>
                </c:pt>
                <c:pt idx="21">
                  <c:v>Aeuui</c:v>
                </c:pt>
                <c:pt idx="22">
                  <c:v>Ekouaer</c:v>
                </c:pt>
                <c:pt idx="23">
                  <c:v>VOYJOY</c:v>
                </c:pt>
                <c:pt idx="24">
                  <c:v>DLOODA</c:v>
                </c:pt>
                <c:pt idx="25">
                  <c:v>MAGCOMSEN</c:v>
                </c:pt>
                <c:pt idx="26">
                  <c:v>Liberty Imports</c:v>
                </c:pt>
                <c:pt idx="27">
                  <c:v>GAYHAY</c:v>
                </c:pt>
                <c:pt idx="28">
                  <c:v>TELALEO</c:v>
                </c:pt>
                <c:pt idx="29">
                  <c:v>QGGQDD</c:v>
                </c:pt>
                <c:pt idx="30">
                  <c:v>MathCat</c:v>
                </c:pt>
                <c:pt idx="31">
                  <c:v>ALWAYS</c:v>
                </c:pt>
                <c:pt idx="32">
                  <c:v>FireSwan</c:v>
                </c:pt>
                <c:pt idx="33">
                  <c:v>JoyGirl</c:v>
                </c:pt>
                <c:pt idx="34">
                  <c:v>ATTRACO</c:v>
                </c:pt>
                <c:pt idx="35">
                  <c:v>CHRLEISURE</c:v>
                </c:pt>
                <c:pt idx="36">
                  <c:v>OVESPORT</c:v>
                </c:pt>
                <c:pt idx="37">
                  <c:v>Aleumdr</c:v>
                </c:pt>
                <c:pt idx="38">
                  <c:v>Loovoo</c:v>
                </c:pt>
                <c:pt idx="39">
                  <c:v>WHOUARE</c:v>
                </c:pt>
                <c:pt idx="40">
                  <c:v>Yovela</c:v>
                </c:pt>
                <c:pt idx="41">
                  <c:v>Reamphy</c:v>
                </c:pt>
                <c:pt idx="42">
                  <c:v>Mippo</c:v>
                </c:pt>
                <c:pt idx="43">
                  <c:v>Kcutteyg</c:v>
                </c:pt>
                <c:pt idx="44">
                  <c:v>URATOT</c:v>
                </c:pt>
                <c:pt idx="45">
                  <c:v>OQQ</c:v>
                </c:pt>
                <c:pt idx="46">
                  <c:v>U.S. Polo Assn.</c:v>
                </c:pt>
                <c:pt idx="47">
                  <c:v>KevaMolly</c:v>
                </c:pt>
                <c:pt idx="48">
                  <c:v>Carpetcom</c:v>
                </c:pt>
                <c:pt idx="49">
                  <c:v>Sundwudu</c:v>
                </c:pt>
                <c:pt idx="50">
                  <c:v>CADMUS</c:v>
                </c:pt>
                <c:pt idx="51">
                  <c:v>Colosseum</c:v>
                </c:pt>
                <c:pt idx="52">
                  <c:v>sphinx cat</c:v>
                </c:pt>
                <c:pt idx="53">
                  <c:v>IUGA</c:v>
                </c:pt>
                <c:pt idx="54">
                  <c:v>Hiwzffy</c:v>
                </c:pt>
                <c:pt idx="55">
                  <c:v>LXNMGO</c:v>
                </c:pt>
                <c:pt idx="56">
                  <c:v>icyzone</c:v>
                </c:pt>
                <c:pt idx="57">
                  <c:v>Mancreda</c:v>
                </c:pt>
                <c:pt idx="58">
                  <c:v>DIBAOLONG</c:v>
                </c:pt>
                <c:pt idx="59">
                  <c:v>Soothfeel</c:v>
                </c:pt>
                <c:pt idx="60">
                  <c:v>Willit</c:v>
                </c:pt>
                <c:pt idx="61">
                  <c:v>G4Free</c:v>
                </c:pt>
                <c:pt idx="62">
                  <c:v>HLTPRO</c:v>
                </c:pt>
                <c:pt idx="63">
                  <c:v>TomTiger</c:v>
                </c:pt>
                <c:pt idx="64">
                  <c:v>JOYSPELS</c:v>
                </c:pt>
                <c:pt idx="65">
                  <c:v>Syrinx</c:v>
                </c:pt>
                <c:pt idx="66">
                  <c:v>Opna</c:v>
                </c:pt>
                <c:pt idx="67">
                  <c:v>Skechers</c:v>
                </c:pt>
                <c:pt idx="68">
                  <c:v>SPECIALMAGIC</c:v>
                </c:pt>
                <c:pt idx="69">
                  <c:v>MoFiz</c:v>
                </c:pt>
                <c:pt idx="70">
                  <c:v>Kamo Fitness</c:v>
                </c:pt>
                <c:pt idx="71">
                  <c:v>Colorfulkoala</c:v>
                </c:pt>
                <c:pt idx="72">
                  <c:v>HeyNuts</c:v>
                </c:pt>
                <c:pt idx="73">
                  <c:v>Porvike</c:v>
                </c:pt>
                <c:pt idx="74">
                  <c:v>SANGTREE</c:v>
                </c:pt>
                <c:pt idx="75">
                  <c:v>Oyamiki</c:v>
                </c:pt>
                <c:pt idx="76">
                  <c:v>Ewedoos</c:v>
                </c:pt>
                <c:pt idx="77">
                  <c:v>Dragon Fit</c:v>
                </c:pt>
                <c:pt idx="78">
                  <c:v>ARRIVE GUIDE</c:v>
                </c:pt>
                <c:pt idx="79">
                  <c:v>Generic</c:v>
                </c:pt>
                <c:pt idx="80">
                  <c:v>TNNZEET</c:v>
                </c:pt>
                <c:pt idx="81">
                  <c:v>JUST MY SIZE</c:v>
                </c:pt>
                <c:pt idx="82">
                  <c:v>Cheerleading Company</c:v>
                </c:pt>
                <c:pt idx="83">
                  <c:v>RBX</c:v>
                </c:pt>
                <c:pt idx="84">
                  <c:v>MCEDAR</c:v>
                </c:pt>
                <c:pt idx="85">
                  <c:v>SCKTOO</c:v>
                </c:pt>
                <c:pt idx="86">
                  <c:v>Navneet</c:v>
                </c:pt>
                <c:pt idx="87">
                  <c:v>HeSaYep</c:v>
                </c:pt>
                <c:pt idx="88">
                  <c:v>AJISAI</c:v>
                </c:pt>
                <c:pt idx="89">
                  <c:v>TACVASEN</c:v>
                </c:pt>
                <c:pt idx="90">
                  <c:v>OZICERD</c:v>
                </c:pt>
                <c:pt idx="91">
                  <c:v>Wukreran</c:v>
                </c:pt>
                <c:pt idx="92">
                  <c:v>NELEUS</c:v>
                </c:pt>
                <c:pt idx="93">
                  <c:v>OLCHEE</c:v>
                </c:pt>
                <c:pt idx="94">
                  <c:v>Bestisun</c:v>
                </c:pt>
                <c:pt idx="95">
                  <c:v>Aoxjox</c:v>
                </c:pt>
                <c:pt idx="96">
                  <c:v>Viodia</c:v>
                </c:pt>
                <c:pt idx="97">
                  <c:v>Rrosseyz</c:v>
                </c:pt>
                <c:pt idx="98">
                  <c:v>LURANEE</c:v>
                </c:pt>
                <c:pt idx="99">
                  <c:v>BottomLine</c:v>
                </c:pt>
                <c:pt idx="100">
                  <c:v>Blooming Jelly</c:v>
                </c:pt>
                <c:pt idx="101">
                  <c:v>YYV</c:v>
                </c:pt>
                <c:pt idx="102">
                  <c:v>Kole Meego</c:v>
                </c:pt>
                <c:pt idx="103">
                  <c:v>Yknktstc</c:v>
                </c:pt>
                <c:pt idx="104">
                  <c:v>ANRABESS</c:v>
                </c:pt>
                <c:pt idx="105">
                  <c:v>Nike</c:v>
                </c:pt>
                <c:pt idx="106">
                  <c:v>HIGHDAYS</c:v>
                </c:pt>
                <c:pt idx="107">
                  <c:v>Waitfairy</c:v>
                </c:pt>
                <c:pt idx="108">
                  <c:v>ANIVIVO</c:v>
                </c:pt>
                <c:pt idx="109">
                  <c:v>LALAGEN</c:v>
                </c:pt>
                <c:pt idx="110">
                  <c:v>Quenteen</c:v>
                </c:pt>
                <c:pt idx="111">
                  <c:v>Hoerev</c:v>
                </c:pt>
                <c:pt idx="112">
                  <c:v>VVX</c:v>
                </c:pt>
                <c:pt idx="113">
                  <c:v>ZHENWEI</c:v>
                </c:pt>
                <c:pt idx="114">
                  <c:v>Mgput</c:v>
                </c:pt>
                <c:pt idx="115">
                  <c:v>Boudaner</c:v>
                </c:pt>
                <c:pt idx="116">
                  <c:v>Wsirmet</c:v>
                </c:pt>
                <c:pt idx="117">
                  <c:v>BALENNZ</c:v>
                </c:pt>
                <c:pt idx="118">
                  <c:v>Abrooical</c:v>
                </c:pt>
                <c:pt idx="119">
                  <c:v>COOrun</c:v>
                </c:pt>
                <c:pt idx="120">
                  <c:v>Unthewe</c:v>
                </c:pt>
                <c:pt idx="121">
                  <c:v>TONCHENGSD</c:v>
                </c:pt>
                <c:pt idx="122">
                  <c:v>Animal Den</c:v>
                </c:pt>
                <c:pt idx="123">
                  <c:v>CZRLHYT</c:v>
                </c:pt>
                <c:pt idx="124">
                  <c:v>LUYAA</c:v>
                </c:pt>
                <c:pt idx="125">
                  <c:v>BTFBM</c:v>
                </c:pt>
                <c:pt idx="126">
                  <c:v>SENSERISE</c:v>
                </c:pt>
                <c:pt idx="127">
                  <c:v>ATHMILE</c:v>
                </c:pt>
                <c:pt idx="128">
                  <c:v>Heathyoga</c:v>
                </c:pt>
                <c:pt idx="129">
                  <c:v>Xioker</c:v>
                </c:pt>
                <c:pt idx="130">
                  <c:v>Raroauf</c:v>
                </c:pt>
                <c:pt idx="131">
                  <c:v>Hanna Nikole</c:v>
                </c:pt>
                <c:pt idx="132">
                  <c:v>Rbenxia</c:v>
                </c:pt>
                <c:pt idx="133">
                  <c:v>ZHANCHTONG</c:v>
                </c:pt>
                <c:pt idx="134">
                  <c:v>Ganado</c:v>
                </c:pt>
                <c:pt idx="135">
                  <c:v>Apriddeo</c:v>
                </c:pt>
                <c:pt idx="136">
                  <c:v>Afibi</c:v>
                </c:pt>
                <c:pt idx="137">
                  <c:v>Ibeauti</c:v>
                </c:pt>
                <c:pt idx="138">
                  <c:v>Tivifox</c:v>
                </c:pt>
                <c:pt idx="139">
                  <c:v>XNMAYA</c:v>
                </c:pt>
                <c:pt idx="140">
                  <c:v>A2Y</c:v>
                </c:pt>
                <c:pt idx="141">
                  <c:v>Lianlive</c:v>
                </c:pt>
                <c:pt idx="142">
                  <c:v>Made By Johnny</c:v>
                </c:pt>
                <c:pt idx="143">
                  <c:v>ABOCIW</c:v>
                </c:pt>
                <c:pt idx="144">
                  <c:v>Aurgelmir</c:v>
                </c:pt>
                <c:pt idx="145">
                  <c:v>Joyingtwo</c:v>
                </c:pt>
                <c:pt idx="146">
                  <c:v>Cresay</c:v>
                </c:pt>
                <c:pt idx="147">
                  <c:v>COOTRY</c:v>
                </c:pt>
                <c:pt idx="148">
                  <c:v>SAFRISIOR</c:v>
                </c:pt>
                <c:pt idx="149">
                  <c:v>altiland</c:v>
                </c:pt>
                <c:pt idx="150">
                  <c:v>Dressever</c:v>
                </c:pt>
                <c:pt idx="151">
                  <c:v>Juakoso</c:v>
                </c:pt>
                <c:pt idx="152">
                  <c:v>Trendy Queen</c:v>
                </c:pt>
                <c:pt idx="153">
                  <c:v>567 TECHNOLOGY PTE. LTD</c:v>
                </c:pt>
                <c:pt idx="154">
                  <c:v>LouKeith</c:v>
                </c:pt>
                <c:pt idx="155">
                  <c:v>M MOTEEPI</c:v>
                </c:pt>
                <c:pt idx="156">
                  <c:v>(空白)</c:v>
                </c:pt>
                <c:pt idx="157">
                  <c:v>Amazon Essentials</c:v>
                </c:pt>
              </c:strCache>
            </c:strRef>
          </c:cat>
          <c:val>
            <c:numRef>
              <c:f>[工作簿1]Sheet1!$B$4:$B$162</c:f>
              <c:numCache>
                <c:formatCode>General</c:formatCode>
                <c:ptCount val="158"/>
                <c:pt idx="0">
                  <c:v>220409</c:v>
                </c:pt>
                <c:pt idx="1">
                  <c:v>120806</c:v>
                </c:pt>
                <c:pt idx="2">
                  <c:v>85735</c:v>
                </c:pt>
                <c:pt idx="3">
                  <c:v>81727</c:v>
                </c:pt>
                <c:pt idx="4">
                  <c:v>79202</c:v>
                </c:pt>
                <c:pt idx="5">
                  <c:v>75182</c:v>
                </c:pt>
                <c:pt idx="6">
                  <c:v>57015</c:v>
                </c:pt>
                <c:pt idx="7">
                  <c:v>56947</c:v>
                </c:pt>
                <c:pt idx="8">
                  <c:v>49836</c:v>
                </c:pt>
                <c:pt idx="9">
                  <c:v>48527</c:v>
                </c:pt>
                <c:pt idx="10">
                  <c:v>46752</c:v>
                </c:pt>
                <c:pt idx="11">
                  <c:v>36413</c:v>
                </c:pt>
                <c:pt idx="12">
                  <c:v>36208</c:v>
                </c:pt>
                <c:pt idx="13">
                  <c:v>34438</c:v>
                </c:pt>
                <c:pt idx="14">
                  <c:v>32539</c:v>
                </c:pt>
                <c:pt idx="15">
                  <c:v>31923</c:v>
                </c:pt>
                <c:pt idx="16">
                  <c:v>27830</c:v>
                </c:pt>
                <c:pt idx="17">
                  <c:v>27419</c:v>
                </c:pt>
                <c:pt idx="18">
                  <c:v>25629</c:v>
                </c:pt>
                <c:pt idx="19">
                  <c:v>23873</c:v>
                </c:pt>
                <c:pt idx="20">
                  <c:v>21644</c:v>
                </c:pt>
                <c:pt idx="21">
                  <c:v>20688</c:v>
                </c:pt>
                <c:pt idx="22">
                  <c:v>20175</c:v>
                </c:pt>
                <c:pt idx="23">
                  <c:v>20008</c:v>
                </c:pt>
                <c:pt idx="24">
                  <c:v>19309</c:v>
                </c:pt>
                <c:pt idx="25">
                  <c:v>18602</c:v>
                </c:pt>
                <c:pt idx="26">
                  <c:v>17980</c:v>
                </c:pt>
                <c:pt idx="27">
                  <c:v>17593</c:v>
                </c:pt>
                <c:pt idx="28">
                  <c:v>17410</c:v>
                </c:pt>
                <c:pt idx="29">
                  <c:v>17111</c:v>
                </c:pt>
                <c:pt idx="30">
                  <c:v>15496</c:v>
                </c:pt>
                <c:pt idx="31">
                  <c:v>15004</c:v>
                </c:pt>
                <c:pt idx="32">
                  <c:v>14666</c:v>
                </c:pt>
                <c:pt idx="33">
                  <c:v>14428</c:v>
                </c:pt>
                <c:pt idx="34">
                  <c:v>13337</c:v>
                </c:pt>
                <c:pt idx="35">
                  <c:v>12755</c:v>
                </c:pt>
                <c:pt idx="36">
                  <c:v>12572</c:v>
                </c:pt>
                <c:pt idx="37">
                  <c:v>12523</c:v>
                </c:pt>
                <c:pt idx="38">
                  <c:v>12199</c:v>
                </c:pt>
                <c:pt idx="39">
                  <c:v>11975</c:v>
                </c:pt>
                <c:pt idx="40">
                  <c:v>11914</c:v>
                </c:pt>
                <c:pt idx="41">
                  <c:v>11621</c:v>
                </c:pt>
                <c:pt idx="42">
                  <c:v>11551</c:v>
                </c:pt>
                <c:pt idx="43">
                  <c:v>10872</c:v>
                </c:pt>
                <c:pt idx="44">
                  <c:v>10318</c:v>
                </c:pt>
                <c:pt idx="45">
                  <c:v>10200</c:v>
                </c:pt>
                <c:pt idx="46">
                  <c:v>10028</c:v>
                </c:pt>
                <c:pt idx="47">
                  <c:v>10006</c:v>
                </c:pt>
                <c:pt idx="48">
                  <c:v>9854</c:v>
                </c:pt>
                <c:pt idx="49">
                  <c:v>9639</c:v>
                </c:pt>
                <c:pt idx="50">
                  <c:v>9343</c:v>
                </c:pt>
                <c:pt idx="51">
                  <c:v>9240</c:v>
                </c:pt>
                <c:pt idx="52">
                  <c:v>9181</c:v>
                </c:pt>
                <c:pt idx="53">
                  <c:v>9149</c:v>
                </c:pt>
                <c:pt idx="54">
                  <c:v>9104</c:v>
                </c:pt>
                <c:pt idx="55">
                  <c:v>8935</c:v>
                </c:pt>
                <c:pt idx="56">
                  <c:v>8849</c:v>
                </c:pt>
                <c:pt idx="57">
                  <c:v>8686</c:v>
                </c:pt>
                <c:pt idx="58">
                  <c:v>8667</c:v>
                </c:pt>
                <c:pt idx="59">
                  <c:v>8475</c:v>
                </c:pt>
                <c:pt idx="60">
                  <c:v>8448</c:v>
                </c:pt>
                <c:pt idx="61">
                  <c:v>8027</c:v>
                </c:pt>
                <c:pt idx="62">
                  <c:v>7636</c:v>
                </c:pt>
                <c:pt idx="63">
                  <c:v>7327</c:v>
                </c:pt>
                <c:pt idx="64">
                  <c:v>7121</c:v>
                </c:pt>
                <c:pt idx="65">
                  <c:v>6940</c:v>
                </c:pt>
                <c:pt idx="66">
                  <c:v>6929</c:v>
                </c:pt>
                <c:pt idx="67">
                  <c:v>6781</c:v>
                </c:pt>
                <c:pt idx="68">
                  <c:v>6779</c:v>
                </c:pt>
                <c:pt idx="69">
                  <c:v>6715</c:v>
                </c:pt>
                <c:pt idx="70">
                  <c:v>6574</c:v>
                </c:pt>
                <c:pt idx="71">
                  <c:v>6275</c:v>
                </c:pt>
                <c:pt idx="72">
                  <c:v>6179</c:v>
                </c:pt>
                <c:pt idx="73">
                  <c:v>6111</c:v>
                </c:pt>
                <c:pt idx="74">
                  <c:v>6069</c:v>
                </c:pt>
                <c:pt idx="75">
                  <c:v>6055</c:v>
                </c:pt>
                <c:pt idx="76">
                  <c:v>5903</c:v>
                </c:pt>
                <c:pt idx="77">
                  <c:v>5833</c:v>
                </c:pt>
                <c:pt idx="78">
                  <c:v>5786</c:v>
                </c:pt>
                <c:pt idx="79">
                  <c:v>5759</c:v>
                </c:pt>
                <c:pt idx="80">
                  <c:v>5357</c:v>
                </c:pt>
                <c:pt idx="81">
                  <c:v>5274</c:v>
                </c:pt>
                <c:pt idx="82">
                  <c:v>5199</c:v>
                </c:pt>
                <c:pt idx="83">
                  <c:v>4900</c:v>
                </c:pt>
                <c:pt idx="84">
                  <c:v>4804</c:v>
                </c:pt>
                <c:pt idx="85">
                  <c:v>4775</c:v>
                </c:pt>
                <c:pt idx="86">
                  <c:v>4682</c:v>
                </c:pt>
                <c:pt idx="87">
                  <c:v>4635</c:v>
                </c:pt>
                <c:pt idx="88">
                  <c:v>4480</c:v>
                </c:pt>
                <c:pt idx="89">
                  <c:v>4350</c:v>
                </c:pt>
                <c:pt idx="90">
                  <c:v>4345</c:v>
                </c:pt>
                <c:pt idx="91">
                  <c:v>4311</c:v>
                </c:pt>
                <c:pt idx="92">
                  <c:v>4199</c:v>
                </c:pt>
                <c:pt idx="93">
                  <c:v>4150</c:v>
                </c:pt>
                <c:pt idx="94">
                  <c:v>4086</c:v>
                </c:pt>
                <c:pt idx="95">
                  <c:v>4062</c:v>
                </c:pt>
                <c:pt idx="96">
                  <c:v>4044</c:v>
                </c:pt>
                <c:pt idx="97">
                  <c:v>3954</c:v>
                </c:pt>
                <c:pt idx="98">
                  <c:v>3918</c:v>
                </c:pt>
                <c:pt idx="99">
                  <c:v>3903</c:v>
                </c:pt>
                <c:pt idx="100">
                  <c:v>3898</c:v>
                </c:pt>
                <c:pt idx="101">
                  <c:v>3656</c:v>
                </c:pt>
                <c:pt idx="102">
                  <c:v>3633</c:v>
                </c:pt>
                <c:pt idx="103">
                  <c:v>3594</c:v>
                </c:pt>
                <c:pt idx="104">
                  <c:v>3555</c:v>
                </c:pt>
                <c:pt idx="105">
                  <c:v>3543</c:v>
                </c:pt>
                <c:pt idx="106">
                  <c:v>3375</c:v>
                </c:pt>
                <c:pt idx="107">
                  <c:v>3350</c:v>
                </c:pt>
                <c:pt idx="108">
                  <c:v>3253</c:v>
                </c:pt>
                <c:pt idx="109">
                  <c:v>3234</c:v>
                </c:pt>
                <c:pt idx="110">
                  <c:v>3211</c:v>
                </c:pt>
                <c:pt idx="111">
                  <c:v>3169</c:v>
                </c:pt>
                <c:pt idx="112">
                  <c:v>3157</c:v>
                </c:pt>
                <c:pt idx="113">
                  <c:v>3132</c:v>
                </c:pt>
                <c:pt idx="114">
                  <c:v>3129</c:v>
                </c:pt>
                <c:pt idx="115">
                  <c:v>3089</c:v>
                </c:pt>
                <c:pt idx="116">
                  <c:v>2993</c:v>
                </c:pt>
                <c:pt idx="117">
                  <c:v>2873</c:v>
                </c:pt>
                <c:pt idx="118">
                  <c:v>2691</c:v>
                </c:pt>
                <c:pt idx="119">
                  <c:v>2616</c:v>
                </c:pt>
                <c:pt idx="120">
                  <c:v>2557</c:v>
                </c:pt>
                <c:pt idx="121">
                  <c:v>2425</c:v>
                </c:pt>
                <c:pt idx="122">
                  <c:v>2420</c:v>
                </c:pt>
                <c:pt idx="123">
                  <c:v>2308</c:v>
                </c:pt>
                <c:pt idx="124">
                  <c:v>2031</c:v>
                </c:pt>
                <c:pt idx="125">
                  <c:v>2030</c:v>
                </c:pt>
                <c:pt idx="126">
                  <c:v>1995</c:v>
                </c:pt>
                <c:pt idx="127">
                  <c:v>1794</c:v>
                </c:pt>
                <c:pt idx="128">
                  <c:v>1545</c:v>
                </c:pt>
                <c:pt idx="129">
                  <c:v>1442</c:v>
                </c:pt>
                <c:pt idx="130">
                  <c:v>1294</c:v>
                </c:pt>
                <c:pt idx="131">
                  <c:v>1274</c:v>
                </c:pt>
                <c:pt idx="132">
                  <c:v>1231</c:v>
                </c:pt>
                <c:pt idx="133">
                  <c:v>1157</c:v>
                </c:pt>
                <c:pt idx="134">
                  <c:v>1074</c:v>
                </c:pt>
                <c:pt idx="135">
                  <c:v>970</c:v>
                </c:pt>
                <c:pt idx="136">
                  <c:v>965</c:v>
                </c:pt>
                <c:pt idx="137">
                  <c:v>954</c:v>
                </c:pt>
                <c:pt idx="138">
                  <c:v>869</c:v>
                </c:pt>
                <c:pt idx="139">
                  <c:v>787</c:v>
                </c:pt>
                <c:pt idx="140">
                  <c:v>777</c:v>
                </c:pt>
                <c:pt idx="141">
                  <c:v>764</c:v>
                </c:pt>
                <c:pt idx="142">
                  <c:v>734</c:v>
                </c:pt>
                <c:pt idx="143">
                  <c:v>733</c:v>
                </c:pt>
                <c:pt idx="144">
                  <c:v>668</c:v>
                </c:pt>
                <c:pt idx="145">
                  <c:v>659</c:v>
                </c:pt>
                <c:pt idx="146">
                  <c:v>589</c:v>
                </c:pt>
                <c:pt idx="147">
                  <c:v>585</c:v>
                </c:pt>
                <c:pt idx="148">
                  <c:v>565</c:v>
                </c:pt>
                <c:pt idx="149">
                  <c:v>486</c:v>
                </c:pt>
                <c:pt idx="150">
                  <c:v>423</c:v>
                </c:pt>
                <c:pt idx="151">
                  <c:v>262</c:v>
                </c:pt>
                <c:pt idx="152">
                  <c:v>247</c:v>
                </c:pt>
                <c:pt idx="153">
                  <c:v>206</c:v>
                </c:pt>
                <c:pt idx="154">
                  <c:v>192</c:v>
                </c:pt>
                <c:pt idx="155">
                  <c:v>169</c:v>
                </c:pt>
                <c:pt idx="157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5dcceb9-a3b9-4880-8527-f495a99fd2d2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年龄分布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[pp_US_人口统计数据_简单_p4Q_.xlsx]Sheet1!$H$3:$H$9</c:f>
              <c:strCache>
                <c:ptCount val="7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65+</c:v>
                </c:pt>
                <c:pt idx="6">
                  <c:v>Information Not Available</c:v>
                </c:pt>
              </c:strCache>
            </c:strRef>
          </c:cat>
          <c:val>
            <c:numRef>
              <c:f>[pp_US_人口统计数据_简单_p4Q_.xlsx]Sheet1!$I$3:$I$9</c:f>
              <c:numCache>
                <c:formatCode>0%</c:formatCode>
                <c:ptCount val="7"/>
                <c:pt idx="0">
                  <c:v>0.0468846890081152</c:v>
                </c:pt>
                <c:pt idx="1">
                  <c:v>0.140255647521561</c:v>
                </c:pt>
                <c:pt idx="2">
                  <c:v>0.173438300396323</c:v>
                </c:pt>
                <c:pt idx="3">
                  <c:v>0.163091375865364</c:v>
                </c:pt>
                <c:pt idx="4">
                  <c:v>0.116248625752279</c:v>
                </c:pt>
                <c:pt idx="5">
                  <c:v>0.10882244569662</c:v>
                </c:pt>
                <c:pt idx="6">
                  <c:v>0.251258915759738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35641905"/>
        <c:axId val="96202594"/>
      </c:barChart>
      <c:catAx>
        <c:axId val="83564190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96202594"/>
        <c:crosses val="autoZero"/>
        <c:auto val="1"/>
        <c:lblAlgn val="ctr"/>
        <c:lblOffset val="100"/>
        <c:noMultiLvlLbl val="0"/>
      </c:catAx>
      <c:valAx>
        <c:axId val="962025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564190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ab34272-e299-4d5f-aa04-95358eabefd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性别分布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80337437300502"/>
          <c:y val="0.327450882864959"/>
          <c:w val="0.406493388052896"/>
          <c:h val="0.665088286495897"/>
        </c:manualLayout>
      </c:layout>
      <c:pieChart>
        <c:varyColors val="1"/>
        <c:ser>
          <c:idx val="0"/>
          <c:order val="0"/>
          <c:spPr>
            <a:effectLst/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[pp_US_人口统计数据_简单_p4Q_.xlsx]Sheet1!$H$21:$H$23</c:f>
              <c:strCache>
                <c:ptCount val="3"/>
                <c:pt idx="0">
                  <c:v>Female</c:v>
                </c:pt>
                <c:pt idx="1">
                  <c:v>Information Not Available</c:v>
                </c:pt>
                <c:pt idx="2">
                  <c:v>Male</c:v>
                </c:pt>
              </c:strCache>
            </c:strRef>
          </c:cat>
          <c:val>
            <c:numRef>
              <c:f>[pp_US_人口统计数据_简单_p4Q_.xlsx]Sheet1!$I$21:$I$23</c:f>
              <c:numCache>
                <c:formatCode>0%</c:formatCode>
                <c:ptCount val="3"/>
                <c:pt idx="0">
                  <c:v>0.536823847653968</c:v>
                </c:pt>
                <c:pt idx="1">
                  <c:v>0.26884629095408</c:v>
                </c:pt>
                <c:pt idx="2">
                  <c:v>0.194329861391952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3246fdc-9f96-4ce3-a6c0-01e302cf163c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婚姻状态分布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80337437300502"/>
          <c:y val="0.327450882864959"/>
          <c:w val="0.406493388052896"/>
          <c:h val="0.665088286495897"/>
        </c:manualLayout>
      </c:layout>
      <c:pieChart>
        <c:varyColors val="1"/>
        <c:ser>
          <c:idx val="0"/>
          <c:order val="0"/>
          <c:spPr>
            <a:effectLst/>
          </c:spPr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[pp_US_人口统计数据_简单_p4Q_.xlsx]Sheet1!$H$35:$H$37</c:f>
              <c:strCache>
                <c:ptCount val="3"/>
                <c:pt idx="0">
                  <c:v>Information Not Available</c:v>
                </c:pt>
                <c:pt idx="1">
                  <c:v>Married</c:v>
                </c:pt>
                <c:pt idx="2">
                  <c:v>Single</c:v>
                </c:pt>
              </c:strCache>
            </c:strRef>
          </c:cat>
          <c:val>
            <c:numRef>
              <c:f>[pp_US_人口统计数据_简单_p4Q_.xlsx]Sheet1!$I$35:$I$37</c:f>
              <c:numCache>
                <c:formatCode>0%</c:formatCode>
                <c:ptCount val="3"/>
                <c:pt idx="0">
                  <c:v>0.498395837265105</c:v>
                </c:pt>
                <c:pt idx="1">
                  <c:v>0.42903789179166</c:v>
                </c:pt>
                <c:pt idx="2">
                  <c:v>0.0725662709432357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ff8fb3c-a669-4f62-b117-b47eca3b8b79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教育水平分布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[pp_US_人口统计数据_简单_p4Q_.xlsx]Sheet1!$H$11:$H$16</c:f>
              <c:strCache>
                <c:ptCount val="6"/>
                <c:pt idx="0">
                  <c:v>Less than High School</c:v>
                </c:pt>
                <c:pt idx="1">
                  <c:v>High School Graduate</c:v>
                </c:pt>
                <c:pt idx="2">
                  <c:v>Some College</c:v>
                </c:pt>
                <c:pt idx="3">
                  <c:v>Bachelors Degree</c:v>
                </c:pt>
                <c:pt idx="4">
                  <c:v>Graduate Degree</c:v>
                </c:pt>
                <c:pt idx="5">
                  <c:v>Information Not Available</c:v>
                </c:pt>
              </c:strCache>
            </c:strRef>
          </c:cat>
          <c:val>
            <c:numRef>
              <c:f>[pp_US_人口统计数据_简单_p4Q_.xlsx]Sheet1!$I$11:$I$16</c:f>
              <c:numCache>
                <c:formatCode>0%</c:formatCode>
                <c:ptCount val="6"/>
                <c:pt idx="0">
                  <c:v>0.064109592323984</c:v>
                </c:pt>
                <c:pt idx="1">
                  <c:v>0.149467226251352</c:v>
                </c:pt>
                <c:pt idx="2">
                  <c:v>0.226712679625785</c:v>
                </c:pt>
                <c:pt idx="3">
                  <c:v>0.205401729679856</c:v>
                </c:pt>
                <c:pt idx="4">
                  <c:v>0.103049856359285</c:v>
                </c:pt>
                <c:pt idx="5">
                  <c:v>0.251258915759738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835641905"/>
        <c:axId val="96202594"/>
      </c:barChart>
      <c:catAx>
        <c:axId val="83564190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96202594"/>
        <c:crosses val="autoZero"/>
        <c:auto val="1"/>
        <c:lblAlgn val="ctr"/>
        <c:lblOffset val="100"/>
        <c:noMultiLvlLbl val="0"/>
      </c:catAx>
      <c:valAx>
        <c:axId val="962025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564190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a51e7f8-f038-4de6-be99-368446daba64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收入水平分布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[pp_US_人口统计数据_简单_p4Q_.xlsx]Sheet1!$H$25:$H$33</c:f>
              <c:strCache>
                <c:ptCount val="9"/>
                <c:pt idx="0">
                  <c:v>a.50,000 to 74,999</c:v>
                </c:pt>
                <c:pt idx="1">
                  <c:v>b.75,000 to 99,999</c:v>
                </c:pt>
                <c:pt idx="2">
                  <c:v>c.100,000 to 124,999</c:v>
                </c:pt>
                <c:pt idx="3">
                  <c:v>d.125,000 to 149,999</c:v>
                </c:pt>
                <c:pt idx="4">
                  <c:v>e.150,000 to 174,999</c:v>
                </c:pt>
                <c:pt idx="5">
                  <c:v>f.175,000 to 199,999</c:v>
                </c:pt>
                <c:pt idx="6">
                  <c:v>g.200,000 to 249,999</c:v>
                </c:pt>
                <c:pt idx="7">
                  <c:v>h.250,000 or more</c:v>
                </c:pt>
                <c:pt idx="8">
                  <c:v>Information Not Available</c:v>
                </c:pt>
              </c:strCache>
            </c:strRef>
          </c:cat>
          <c:val>
            <c:numRef>
              <c:f>[pp_US_人口统计数据_简单_p4Q_.xlsx]Sheet1!$I$25:$I$33</c:f>
              <c:numCache>
                <c:formatCode>0%</c:formatCode>
                <c:ptCount val="9"/>
                <c:pt idx="0">
                  <c:v>0.108046576138566</c:v>
                </c:pt>
                <c:pt idx="1">
                  <c:v>0.117950146636351</c:v>
                </c:pt>
                <c:pt idx="2">
                  <c:v>0.0804238224906312</c:v>
                </c:pt>
                <c:pt idx="3">
                  <c:v>0.0952642000605118</c:v>
                </c:pt>
                <c:pt idx="4">
                  <c:v>0.0425170526542827</c:v>
                </c:pt>
                <c:pt idx="5">
                  <c:v>0.047744436356229</c:v>
                </c:pt>
                <c:pt idx="6">
                  <c:v>0.0589960427656904</c:v>
                </c:pt>
                <c:pt idx="7">
                  <c:v>0.0715956850868285</c:v>
                </c:pt>
                <c:pt idx="8">
                  <c:v>0.37746203781091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0"/>
        <c:axId val="835641905"/>
        <c:axId val="96202594"/>
      </c:barChart>
      <c:catAx>
        <c:axId val="83564190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96202594"/>
        <c:crosses val="autoZero"/>
        <c:auto val="1"/>
        <c:lblAlgn val="ctr"/>
        <c:lblOffset val="100"/>
        <c:noMultiLvlLbl val="0"/>
      </c:catAx>
      <c:valAx>
        <c:axId val="962025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83564190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c82f073-6237-4977-ba29-90d9a928451e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>
            <p:custDataLst>
              <p:tags r:id="rId2"/>
            </p:custDataLst>
          </p:nvPr>
        </p:nvSpPr>
        <p:spPr>
          <a:xfrm>
            <a:off x="9144000" y="0"/>
            <a:ext cx="3044952" cy="4014216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Ellipse 3 (Stroke)_#color-2050&amp;12715"/>
          <p:cNvSpPr/>
          <p:nvPr>
            <p:custDataLst>
              <p:tags r:id="rId3"/>
            </p:custDataLst>
          </p:nvPr>
        </p:nvSpPr>
        <p:spPr>
          <a:xfrm>
            <a:off x="6184392" y="1938528"/>
            <a:ext cx="6007608" cy="4919472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>
            <p:custDataLst>
              <p:tags r:id="rId4"/>
            </p:custDataLst>
          </p:nvPr>
        </p:nvSpPr>
        <p:spPr>
          <a:xfrm>
            <a:off x="5312664" y="4581144"/>
            <a:ext cx="630936" cy="198424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>
            <p:custDataLst>
              <p:tags r:id="rId5"/>
            </p:custDataLst>
          </p:nvPr>
        </p:nvSpPr>
        <p:spPr>
          <a:xfrm>
            <a:off x="6739128" y="1947672"/>
            <a:ext cx="5449824" cy="2194560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>
            <p:custDataLst>
              <p:tags r:id="rId6"/>
            </p:custDataLst>
          </p:nvPr>
        </p:nvSpPr>
        <p:spPr>
          <a:xfrm>
            <a:off x="0" y="0"/>
            <a:ext cx="1746504" cy="1655064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73125" y="1811020"/>
            <a:ext cx="5765800" cy="20764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200" y="4229100"/>
            <a:ext cx="2654935" cy="6064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>
            <p:custDataLst>
              <p:tags r:id="rId2"/>
            </p:custDataLst>
          </p:nvPr>
        </p:nvSpPr>
        <p:spPr>
          <a:xfrm>
            <a:off x="3282696" y="0"/>
            <a:ext cx="2304288" cy="68580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>
            <p:custDataLst>
              <p:tags r:id="rId3"/>
            </p:custDataLst>
          </p:nvPr>
        </p:nvSpPr>
        <p:spPr>
          <a:xfrm>
            <a:off x="0" y="0"/>
            <a:ext cx="4672584" cy="68580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>
            <p:custDataLst>
              <p:tags r:id="rId4"/>
            </p:custDataLst>
          </p:nvPr>
        </p:nvSpPr>
        <p:spPr>
          <a:xfrm>
            <a:off x="0" y="3959352"/>
            <a:ext cx="4581144" cy="2898648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47525" y="2772441"/>
            <a:ext cx="2658015" cy="1313212"/>
          </a:xfrm>
        </p:spPr>
        <p:txBody>
          <a:bodyPr wrap="square" anchor="ctr" anchorCtr="0">
            <a:normAutofit/>
          </a:bodyPr>
          <a:lstStyle>
            <a:lvl1pPr>
              <a:defRPr sz="48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>
            <p:custDataLst>
              <p:tags r:id="rId2"/>
            </p:custDataLst>
          </p:nvPr>
        </p:nvSpPr>
        <p:spPr>
          <a:xfrm>
            <a:off x="1524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>
            <p:custDataLst>
              <p:tags r:id="rId3"/>
            </p:custDataLst>
          </p:nvPr>
        </p:nvSpPr>
        <p:spPr>
          <a:xfrm>
            <a:off x="0" y="0"/>
            <a:ext cx="4142232" cy="4544568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>
            <p:custDataLst>
              <p:tags r:id="rId4"/>
            </p:custDataLst>
          </p:nvPr>
        </p:nvSpPr>
        <p:spPr>
          <a:xfrm>
            <a:off x="0" y="1399032"/>
            <a:ext cx="6099048" cy="5458968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>
            <p:custDataLst>
              <p:tags r:id="rId5"/>
            </p:custDataLst>
          </p:nvPr>
        </p:nvSpPr>
        <p:spPr>
          <a:xfrm>
            <a:off x="0" y="1399032"/>
            <a:ext cx="5541264" cy="219456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27495" y="3136900"/>
            <a:ext cx="4726940" cy="1983105"/>
          </a:xfrm>
        </p:spPr>
        <p:txBody>
          <a:bodyPr wrap="square" anchor="t">
            <a:normAutofit/>
          </a:bodyPr>
          <a:lstStyle>
            <a:lvl1pPr algn="l">
              <a:defRPr sz="45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86410" y="3269650"/>
            <a:ext cx="5126736" cy="2759544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900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>
            <p:custDataLst>
              <p:tags r:id="rId2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>
            <p:custDataLst>
              <p:tags r:id="rId3"/>
            </p:custDataLst>
          </p:nvPr>
        </p:nvSpPr>
        <p:spPr>
          <a:xfrm>
            <a:off x="8891016" y="0"/>
            <a:ext cx="3300984" cy="3877056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>
            <p:custDataLst>
              <p:tags r:id="rId4"/>
            </p:custDataLst>
          </p:nvPr>
        </p:nvSpPr>
        <p:spPr>
          <a:xfrm>
            <a:off x="9262872" y="1389888"/>
            <a:ext cx="2926080" cy="2478024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>
            <p:custDataLst>
              <p:tags r:id="rId5"/>
            </p:custDataLst>
          </p:nvPr>
        </p:nvSpPr>
        <p:spPr>
          <a:xfrm>
            <a:off x="10716768" y="3822192"/>
            <a:ext cx="1472184" cy="841248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>
            <p:custDataLst>
              <p:tags r:id="rId6"/>
            </p:custDataLst>
          </p:nvPr>
        </p:nvSpPr>
        <p:spPr>
          <a:xfrm>
            <a:off x="0" y="3429000"/>
            <a:ext cx="3255264" cy="3429000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838200" y="457200"/>
            <a:ext cx="10515000" cy="29988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200" y="3908350"/>
            <a:ext cx="10515000" cy="124056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>
            <p:custDataLst>
              <p:tags r:id="rId12"/>
            </p:custDataLst>
          </p:nvPr>
        </p:nvSpPr>
        <p:spPr>
          <a:xfrm>
            <a:off x="0" y="0"/>
            <a:ext cx="1746504" cy="1655064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 (Stroke)_#color-2050&amp;12745"/>
          <p:cNvSpPr/>
          <p:nvPr>
            <p:custDataLst>
              <p:tags r:id="rId13"/>
            </p:custDataLst>
          </p:nvPr>
        </p:nvSpPr>
        <p:spPr>
          <a:xfrm>
            <a:off x="11271250" y="5772785"/>
            <a:ext cx="918210" cy="1084580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>
            <p:custDataLst>
              <p:tags r:id="rId14"/>
            </p:custDataLst>
          </p:nvPr>
        </p:nvSpPr>
        <p:spPr>
          <a:xfrm>
            <a:off x="11429365" y="5772785"/>
            <a:ext cx="760095" cy="607060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2.xml"/><Relationship Id="rId2" Type="http://schemas.openxmlformats.org/officeDocument/2006/relationships/image" Target="../media/image1.png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1" Type="http://schemas.openxmlformats.org/officeDocument/2006/relationships/slideLayout" Target="../slideLayouts/slideLayout14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../media/image4.png"/><Relationship Id="rId7" Type="http://schemas.openxmlformats.org/officeDocument/2006/relationships/tags" Target="../tags/tag107.xml"/><Relationship Id="rId6" Type="http://schemas.openxmlformats.org/officeDocument/2006/relationships/image" Target="../media/image3.png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5" Type="http://schemas.openxmlformats.org/officeDocument/2006/relationships/slideLayout" Target="../slideLayouts/slideLayout13.xml"/><Relationship Id="rId34" Type="http://schemas.openxmlformats.org/officeDocument/2006/relationships/tags" Target="../tags/tag122.xml"/><Relationship Id="rId33" Type="http://schemas.openxmlformats.org/officeDocument/2006/relationships/image" Target="../media/image15.png"/><Relationship Id="rId32" Type="http://schemas.openxmlformats.org/officeDocument/2006/relationships/image" Target="../media/image14.png"/><Relationship Id="rId31" Type="http://schemas.openxmlformats.org/officeDocument/2006/relationships/image" Target="../media/image13.png"/><Relationship Id="rId30" Type="http://schemas.openxmlformats.org/officeDocument/2006/relationships/tags" Target="../tags/tag121.xml"/><Relationship Id="rId3" Type="http://schemas.openxmlformats.org/officeDocument/2006/relationships/tags" Target="../tags/tag104.xml"/><Relationship Id="rId29" Type="http://schemas.openxmlformats.org/officeDocument/2006/relationships/image" Target="../media/image12.png"/><Relationship Id="rId28" Type="http://schemas.openxmlformats.org/officeDocument/2006/relationships/tags" Target="../tags/tag120.xml"/><Relationship Id="rId27" Type="http://schemas.openxmlformats.org/officeDocument/2006/relationships/tags" Target="../tags/tag119.xml"/><Relationship Id="rId26" Type="http://schemas.openxmlformats.org/officeDocument/2006/relationships/tags" Target="../tags/tag118.xml"/><Relationship Id="rId25" Type="http://schemas.openxmlformats.org/officeDocument/2006/relationships/image" Target="../media/image11.png"/><Relationship Id="rId24" Type="http://schemas.openxmlformats.org/officeDocument/2006/relationships/tags" Target="../tags/tag117.xml"/><Relationship Id="rId23" Type="http://schemas.openxmlformats.org/officeDocument/2006/relationships/image" Target="../media/image10.png"/><Relationship Id="rId22" Type="http://schemas.openxmlformats.org/officeDocument/2006/relationships/tags" Target="../tags/tag116.xml"/><Relationship Id="rId21" Type="http://schemas.openxmlformats.org/officeDocument/2006/relationships/image" Target="../media/image9.png"/><Relationship Id="rId20" Type="http://schemas.openxmlformats.org/officeDocument/2006/relationships/tags" Target="../tags/tag115.xml"/><Relationship Id="rId2" Type="http://schemas.openxmlformats.org/officeDocument/2006/relationships/tags" Target="../tags/tag103.xml"/><Relationship Id="rId19" Type="http://schemas.openxmlformats.org/officeDocument/2006/relationships/tags" Target="../tags/tag114.xml"/><Relationship Id="rId18" Type="http://schemas.openxmlformats.org/officeDocument/2006/relationships/image" Target="../media/image8.png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image" Target="../media/image7.png"/><Relationship Id="rId14" Type="http://schemas.openxmlformats.org/officeDocument/2006/relationships/tags" Target="../tags/tag111.xml"/><Relationship Id="rId13" Type="http://schemas.openxmlformats.org/officeDocument/2006/relationships/image" Target="../media/image6.png"/><Relationship Id="rId12" Type="http://schemas.openxmlformats.org/officeDocument/2006/relationships/tags" Target="../tags/tag110.xml"/><Relationship Id="rId11" Type="http://schemas.openxmlformats.org/officeDocument/2006/relationships/image" Target="../media/image5.png"/><Relationship Id="rId10" Type="http://schemas.openxmlformats.org/officeDocument/2006/relationships/tags" Target="../tags/tag109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131.xml"/><Relationship Id="rId14" Type="http://schemas.openxmlformats.org/officeDocument/2006/relationships/tags" Target="../tags/tag130.xml"/><Relationship Id="rId13" Type="http://schemas.openxmlformats.org/officeDocument/2006/relationships/hyperlink" Target="https://en.wikipedia.org/wiki/Educational_attainment_in_the_United_States#cite_note-5" TargetMode="Externa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36.xml"/><Relationship Id="rId7" Type="http://schemas.openxmlformats.org/officeDocument/2006/relationships/image" Target="../media/image21.pn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NULL" TargetMode="External"/><Relationship Id="rId1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3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38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3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汇报人：WPS</a:t>
            </a:r>
            <a:endParaRPr lang="en-US" altLang="zh-CN"/>
          </a:p>
        </p:txBody>
      </p:sp>
      <p:pic>
        <p:nvPicPr>
          <p:cNvPr id="6" name="图片 5" descr="图标墨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6" y="2383790"/>
            <a:ext cx="5936687" cy="126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资源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920" y="3068955"/>
            <a:ext cx="6156160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800"/>
              <a:t>目录</a:t>
            </a:r>
            <a:endParaRPr lang="zh-CN" altLang="en-US" sz="4800"/>
          </a:p>
        </p:txBody>
      </p:sp>
      <p:sp>
        <p:nvSpPr>
          <p:cNvPr id="7" name="项标题"/>
          <p:cNvSpPr txBox="1"/>
          <p:nvPr>
            <p:custDataLst>
              <p:tags r:id="rId2"/>
            </p:custDataLst>
          </p:nvPr>
        </p:nvSpPr>
        <p:spPr>
          <a:xfrm>
            <a:off x="7194921" y="769704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spc="300" dirty="0">
                <a:solidFill>
                  <a:schemeClr val="dk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主营品类</a:t>
            </a:r>
            <a:endParaRPr lang="zh-CN" altLang="en-US" sz="2400" spc="300" dirty="0">
              <a:solidFill>
                <a:schemeClr val="dk1">
                  <a:lumMod val="65000"/>
                  <a:lumOff val="35000"/>
                </a:schemeClr>
              </a:solidFill>
              <a:cs typeface="微软雅黑" panose="020B0503020204020204" charset="-122"/>
              <a:sym typeface="微软雅黑" panose="020B0503020204020204" charset="-122"/>
            </a:endParaRPr>
          </a:p>
          <a:p>
            <a:pPr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zh-CN" altLang="en-US" sz="2400" spc="300" dirty="0">
                <a:solidFill>
                  <a:schemeClr val="dk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微软雅黑" panose="020B0503020204020204" charset="-122"/>
              </a:rPr>
              <a:t>市场占有情况</a:t>
            </a:r>
            <a:endParaRPr lang="zh-CN" altLang="en-US" sz="2400" spc="300" dirty="0">
              <a:solidFill>
                <a:schemeClr val="dk1">
                  <a:lumMod val="65000"/>
                  <a:lumOff val="35000"/>
                </a:schemeClr>
              </a:solidFill>
              <a:cs typeface="微软雅黑" panose="020B0503020204020204" charset="-122"/>
              <a:sym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lang="zh-CN" altLang="en-US" sz="2400" spc="300" dirty="0">
              <a:solidFill>
                <a:schemeClr val="dk1">
                  <a:lumMod val="65000"/>
                  <a:lumOff val="35000"/>
                </a:schemeClr>
              </a:solidFill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Ellipse 66_#color-2050&amp;12710"/>
          <p:cNvSpPr/>
          <p:nvPr>
            <p:custDataLst>
              <p:tags r:id="rId3"/>
            </p:custDataLst>
          </p:nvPr>
        </p:nvSpPr>
        <p:spPr>
          <a:xfrm>
            <a:off x="6312093" y="642239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4" name="@mix!m0_序号_01-2050-12354"/>
          <p:cNvSpPr/>
          <p:nvPr>
            <p:custDataLst>
              <p:tags r:id="rId4"/>
            </p:custDataLst>
          </p:nvPr>
        </p:nvSpPr>
        <p:spPr>
          <a:xfrm>
            <a:off x="6385239" y="724528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marL="0" indent="0" algn="ctr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</a:rPr>
              <a:t>01</a:t>
            </a:r>
            <a:endParaRPr lang="zh-CN" alt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</a:endParaRPr>
          </a:p>
        </p:txBody>
      </p:sp>
      <p:sp>
        <p:nvSpPr>
          <p:cNvPr id="12" name="Ellipse 68_#color-2050&amp;12711"/>
          <p:cNvSpPr/>
          <p:nvPr>
            <p:custDataLst>
              <p:tags r:id="rId5"/>
            </p:custDataLst>
          </p:nvPr>
        </p:nvSpPr>
        <p:spPr>
          <a:xfrm>
            <a:off x="6668170" y="1595387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5" name="@mix!m0_序号_02-2050-12355"/>
          <p:cNvSpPr/>
          <p:nvPr>
            <p:custDataLst>
              <p:tags r:id="rId6"/>
            </p:custDataLst>
          </p:nvPr>
        </p:nvSpPr>
        <p:spPr>
          <a:xfrm>
            <a:off x="6741316" y="1668533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02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" name="项标题"/>
          <p:cNvSpPr txBox="1"/>
          <p:nvPr>
            <p:custDataLst>
              <p:tags r:id="rId7"/>
            </p:custDataLst>
          </p:nvPr>
        </p:nvSpPr>
        <p:spPr>
          <a:xfrm>
            <a:off x="7550998" y="1722852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微软雅黑" panose="020B0503020204020204" charset="-122"/>
              </a:rPr>
              <a:t>消费者特征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微软雅黑" panose="020B0503020204020204" charset="-122"/>
            </a:endParaRPr>
          </a:p>
        </p:txBody>
      </p:sp>
      <p:sp>
        <p:nvSpPr>
          <p:cNvPr id="9" name="@mix!m0_序号_03-2050-12356"/>
          <p:cNvSpPr/>
          <p:nvPr>
            <p:custDataLst>
              <p:tags r:id="rId8"/>
            </p:custDataLst>
          </p:nvPr>
        </p:nvSpPr>
        <p:spPr>
          <a:xfrm>
            <a:off x="6906402" y="3574830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04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0" name="Ellipse 70_#color-2050&amp;12709"/>
          <p:cNvSpPr/>
          <p:nvPr>
            <p:custDataLst>
              <p:tags r:id="rId9"/>
            </p:custDataLst>
          </p:nvPr>
        </p:nvSpPr>
        <p:spPr>
          <a:xfrm>
            <a:off x="6833256" y="3501684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3" name="项标题"/>
          <p:cNvSpPr txBox="1"/>
          <p:nvPr>
            <p:custDataLst>
              <p:tags r:id="rId10"/>
            </p:custDataLst>
          </p:nvPr>
        </p:nvSpPr>
        <p:spPr>
          <a:xfrm>
            <a:off x="7716084" y="3624577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微软雅黑" panose="020B0503020204020204" charset="-122"/>
              </a:rPr>
              <a:t>品牌认知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微软雅黑" panose="020B0503020204020204" charset="-122"/>
            </a:endParaRPr>
          </a:p>
        </p:txBody>
      </p:sp>
      <p:sp>
        <p:nvSpPr>
          <p:cNvPr id="13" name="Ellipse 72_#color-2050&amp;12712"/>
          <p:cNvSpPr/>
          <p:nvPr>
            <p:custDataLst>
              <p:tags r:id="rId11"/>
            </p:custDataLst>
          </p:nvPr>
        </p:nvSpPr>
        <p:spPr>
          <a:xfrm>
            <a:off x="6269565" y="5407980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6" name="@mix!m0_序号_04-2050-12357"/>
          <p:cNvSpPr/>
          <p:nvPr>
            <p:custDataLst>
              <p:tags r:id="rId12"/>
            </p:custDataLst>
          </p:nvPr>
        </p:nvSpPr>
        <p:spPr>
          <a:xfrm>
            <a:off x="6342711" y="5481125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06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8" name="项标题"/>
          <p:cNvSpPr txBox="1"/>
          <p:nvPr>
            <p:custDataLst>
              <p:tags r:id="rId13"/>
            </p:custDataLst>
          </p:nvPr>
        </p:nvSpPr>
        <p:spPr>
          <a:xfrm>
            <a:off x="7152392" y="5530873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+mn-ea"/>
              </a:rPr>
              <a:t>竟对清单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+mn-e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+mn-ea"/>
              </a:rPr>
              <a:t>竟对营销策略分析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</a:endParaRPr>
          </a:p>
        </p:txBody>
      </p:sp>
      <p:sp>
        <p:nvSpPr>
          <p:cNvPr id="4" name="Ellipse 68_#color-2050&amp;12711"/>
          <p:cNvSpPr/>
          <p:nvPr>
            <p:custDataLst>
              <p:tags r:id="rId14"/>
            </p:custDataLst>
          </p:nvPr>
        </p:nvSpPr>
        <p:spPr>
          <a:xfrm>
            <a:off x="6833256" y="2548536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5" name="@mix!m0_序号_02-2050-12355"/>
          <p:cNvSpPr/>
          <p:nvPr>
            <p:custDataLst>
              <p:tags r:id="rId15"/>
            </p:custDataLst>
          </p:nvPr>
        </p:nvSpPr>
        <p:spPr>
          <a:xfrm>
            <a:off x="6906402" y="2621681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03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4" name="项标题"/>
          <p:cNvSpPr txBox="1"/>
          <p:nvPr>
            <p:custDataLst>
              <p:tags r:id="rId16"/>
            </p:custDataLst>
          </p:nvPr>
        </p:nvSpPr>
        <p:spPr>
          <a:xfrm>
            <a:off x="7716084" y="2676001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微软雅黑" panose="020B0503020204020204" charset="-122"/>
              </a:rPr>
              <a:t>消费旅程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微软雅黑" panose="020B0503020204020204" charset="-122"/>
            </a:endParaRPr>
          </a:p>
        </p:txBody>
      </p:sp>
      <p:sp>
        <p:nvSpPr>
          <p:cNvPr id="26" name="@mix!m0_序号_03-2050-12356"/>
          <p:cNvSpPr/>
          <p:nvPr>
            <p:custDataLst>
              <p:tags r:id="rId17"/>
            </p:custDataLst>
          </p:nvPr>
        </p:nvSpPr>
        <p:spPr>
          <a:xfrm>
            <a:off x="6724730" y="4527978"/>
            <a:ext cx="603452" cy="603452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05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7" name="Ellipse 70_#color-2050&amp;12709"/>
          <p:cNvSpPr/>
          <p:nvPr>
            <p:custDataLst>
              <p:tags r:id="rId18"/>
            </p:custDataLst>
          </p:nvPr>
        </p:nvSpPr>
        <p:spPr>
          <a:xfrm>
            <a:off x="6651585" y="4454832"/>
            <a:ext cx="758886" cy="758886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8" name="项标题"/>
          <p:cNvSpPr txBox="1"/>
          <p:nvPr>
            <p:custDataLst>
              <p:tags r:id="rId19"/>
            </p:custDataLst>
          </p:nvPr>
        </p:nvSpPr>
        <p:spPr>
          <a:xfrm>
            <a:off x="7534412" y="4577726"/>
            <a:ext cx="3673868" cy="5039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indent="0">
              <a:buFont typeface="+mj-lt"/>
              <a:buNone/>
            </a:pPr>
            <a:r>
              <a:rPr lang="zh-CN" altLang="en-US" sz="1200">
                <a:sym typeface="+mn-ea"/>
              </a:rPr>
              <a:t>营销大事件</a:t>
            </a:r>
            <a:endParaRPr lang="zh-CN" altLang="en-US" sz="12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69515" y="543560"/>
            <a:ext cx="4064000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r>
              <a:rPr lang="en-US" altLang="zh-CN">
                <a:solidFill>
                  <a:schemeClr val="tx1"/>
                </a:solidFill>
              </a:rPr>
              <a:t>Women’s activewear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359150" y="3378835"/>
            <a:ext cx="2699385" cy="95313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00000"/>
              </a:lnSpc>
            </a:pPr>
            <a:r>
              <a:rPr lang="en-US" altLang="zh-CN" sz="1200" b="0" i="0">
                <a:solidFill>
                  <a:schemeClr val="tx1"/>
                </a:solidFill>
              </a:rPr>
              <a:t>Active Skirts:</a:t>
            </a:r>
            <a:endParaRPr lang="en-US" altLang="zh-CN" sz="1200" b="0" i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1200" b="0" i="0">
                <a:solidFill>
                  <a:schemeClr val="tx1"/>
                </a:solidFill>
              </a:rPr>
              <a:t>5.29% 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market share</a:t>
            </a:r>
            <a:endParaRPr lang="en-US" altLang="zh-CN" sz="1200" b="0" i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1200">
                <a:solidFill>
                  <a:schemeClr val="tx1"/>
                </a:solidFill>
                <a:sym typeface="+mn-ea"/>
              </a:rPr>
              <a:t>4% Amazon Best Seller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00000"/>
              </a:lnSpc>
            </a:pPr>
            <a:r>
              <a:rPr lang="zh-CN" altLang="en-US" sz="1200">
                <a:solidFill>
                  <a:schemeClr val="tx1"/>
                </a:solidFill>
                <a:sym typeface="+mn-ea"/>
              </a:rPr>
              <a:t>定价：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$20.49/ Top100</a:t>
            </a:r>
            <a:r>
              <a:rPr lang="zh-CN" altLang="en-US" sz="1200">
                <a:solidFill>
                  <a:schemeClr val="tx1"/>
                </a:solidFill>
                <a:sym typeface="+mn-ea"/>
              </a:rPr>
              <a:t>均价：</a:t>
            </a:r>
            <a:r>
              <a:rPr lang="en-US" altLang="zh-CN" sz="1200">
                <a:solidFill>
                  <a:schemeClr val="tx1"/>
                </a:solidFill>
                <a:sym typeface="+mn-ea"/>
              </a:rPr>
              <a:t> $24.9</a:t>
            </a:r>
            <a:endParaRPr lang="en-US" altLang="zh-CN" sz="1200" b="0" i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</a:pPr>
            <a:endParaRPr lang="en-US" altLang="zh-CN" sz="1200" b="0" i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</a:pPr>
            <a:endParaRPr lang="en-US" altLang="zh-CN" sz="1200" b="0" i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</a:pPr>
            <a:endParaRPr lang="en-US" altLang="zh-CN" sz="1200" b="0" i="0">
              <a:solidFill>
                <a:schemeClr val="tx1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57835" y="1340485"/>
            <a:ext cx="3100070" cy="3013710"/>
            <a:chOff x="830" y="2761"/>
            <a:chExt cx="4882" cy="4746"/>
          </a:xfrm>
        </p:grpSpPr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830" y="5971"/>
              <a:ext cx="4882" cy="1536"/>
            </a:xfrm>
            <a:prstGeom prst="rect">
              <a:avLst/>
            </a:prstGeom>
          </p:spPr>
          <p:txBody>
            <a:bodyPr>
              <a:noAutofit/>
            </a:bodyPr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Active Shorts: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0.66% market share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0 Amazon Best Seller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定价：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-/ Top100</a:t>
              </a: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均价：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 $21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endParaRPr lang="en-US" altLang="zh-CN" sz="1200" b="0" i="0">
                <a:solidFill>
                  <a:schemeClr val="tx1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830" y="2761"/>
              <a:ext cx="1513" cy="1505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343" y="2834"/>
              <a:ext cx="1476" cy="1434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5937885" y="873760"/>
            <a:ext cx="3773170" cy="3148330"/>
            <a:chOff x="13190" y="2071"/>
            <a:chExt cx="5942" cy="4958"/>
          </a:xfrm>
        </p:grpSpPr>
        <p:sp>
          <p:nvSpPr>
            <p:cNvPr id="7" name="文本框 6"/>
            <p:cNvSpPr txBox="1"/>
            <p:nvPr>
              <p:custDataLst>
                <p:tags r:id="rId9"/>
              </p:custDataLst>
            </p:nvPr>
          </p:nvSpPr>
          <p:spPr>
            <a:xfrm>
              <a:off x="13190" y="5382"/>
              <a:ext cx="5942" cy="1647"/>
            </a:xfrm>
            <a:prstGeom prst="rect">
              <a:avLst/>
            </a:prstGeom>
          </p:spPr>
          <p:txBody>
            <a:bodyPr>
              <a:noAutofit/>
            </a:bodyPr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Active T-Shirts: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1.10% 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market share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0% Amazon Best Seller</a:t>
              </a:r>
              <a:endParaRPr lang="en-US" altLang="zh-CN" sz="1200">
                <a:solidFill>
                  <a:schemeClr val="tx1"/>
                </a:solidFill>
                <a:sym typeface="+mn-ea"/>
              </a:endParaRPr>
            </a:p>
            <a:p>
              <a:pPr marL="0" indent="0">
                <a:lnSpc>
                  <a:spcPct val="100000"/>
                </a:lnSpc>
              </a:pP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定价：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-/ Top50</a:t>
              </a: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均价：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 $22.8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endParaRPr lang="en-US" altLang="zh-CN" sz="1200" b="0" i="0">
                <a:solidFill>
                  <a:schemeClr val="tx1"/>
                </a:solidFill>
              </a:endParaRPr>
            </a:p>
          </p:txBody>
        </p:sp>
        <p:pic>
          <p:nvPicPr>
            <p:cNvPr id="21" name="图片 2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850" y="2071"/>
              <a:ext cx="1386" cy="1727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3380" y="2072"/>
              <a:ext cx="1353" cy="1669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211" y="3526"/>
              <a:ext cx="1351" cy="1667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/>
        </p:nvGrpSpPr>
        <p:grpSpPr>
          <a:xfrm>
            <a:off x="238760" y="4361815"/>
            <a:ext cx="3191510" cy="2386965"/>
            <a:chOff x="3072" y="6839"/>
            <a:chExt cx="5026" cy="3759"/>
          </a:xfrm>
        </p:grpSpPr>
        <p:sp>
          <p:nvSpPr>
            <p:cNvPr id="9" name="文本框 8"/>
            <p:cNvSpPr txBox="1"/>
            <p:nvPr>
              <p:custDataLst>
                <p:tags r:id="rId16"/>
              </p:custDataLst>
            </p:nvPr>
          </p:nvSpPr>
          <p:spPr>
            <a:xfrm>
              <a:off x="3072" y="8853"/>
              <a:ext cx="5026" cy="1745"/>
            </a:xfrm>
            <a:prstGeom prst="rect">
              <a:avLst/>
            </a:prstGeom>
          </p:spPr>
          <p:txBody>
            <a:bodyPr wrap="square">
              <a:normAutofit/>
            </a:bodyPr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Active Tank Tops: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0.85% 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market share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 1% Amazon Best Seller</a:t>
              </a:r>
              <a:endParaRPr lang="en-US" altLang="zh-CN" sz="1200">
                <a:solidFill>
                  <a:schemeClr val="tx1"/>
                </a:solidFill>
                <a:sym typeface="+mn-ea"/>
              </a:endParaRPr>
            </a:p>
            <a:p>
              <a:pPr marL="0" indent="0">
                <a:lnSpc>
                  <a:spcPct val="100000"/>
                </a:lnSpc>
              </a:pP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定价：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$19.99/ Top50</a:t>
              </a:r>
              <a:r>
                <a:rPr lang="zh-CN" altLang="en-US" sz="1200">
                  <a:solidFill>
                    <a:schemeClr val="tx1"/>
                  </a:solidFill>
                  <a:sym typeface="+mn-ea"/>
                </a:rPr>
                <a:t>均价：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 $21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endParaRPr lang="en-US" altLang="zh-CN" sz="1200" b="0" i="0">
                <a:solidFill>
                  <a:schemeClr val="tx1"/>
                </a:solidFill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4042" y="6839"/>
              <a:ext cx="1459" cy="1944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3422650" y="4191000"/>
            <a:ext cx="5080000" cy="2580640"/>
            <a:chOff x="9131" y="6443"/>
            <a:chExt cx="8000" cy="4064"/>
          </a:xfrm>
        </p:grpSpPr>
        <p:sp>
          <p:nvSpPr>
            <p:cNvPr id="10" name="文本框 9"/>
            <p:cNvSpPr txBox="1"/>
            <p:nvPr>
              <p:custDataLst>
                <p:tags r:id="rId19"/>
              </p:custDataLst>
            </p:nvPr>
          </p:nvSpPr>
          <p:spPr>
            <a:xfrm>
              <a:off x="9131" y="8773"/>
              <a:ext cx="8000" cy="1734"/>
            </a:xfrm>
            <a:prstGeom prst="rect">
              <a:avLst/>
            </a:prstGeom>
          </p:spPr>
          <p:txBody>
            <a:bodyPr wrap="square">
              <a:normAutofit/>
            </a:bodyPr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Active Sweatpants: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 b="0" i="0">
                  <a:solidFill>
                    <a:schemeClr val="tx1"/>
                  </a:solidFill>
                </a:rPr>
                <a:t>0.60% </a:t>
              </a: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market share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r>
                <a:rPr lang="en-US" altLang="zh-CN" sz="1200">
                  <a:solidFill>
                    <a:schemeClr val="tx1"/>
                  </a:solidFill>
                  <a:sym typeface="+mn-ea"/>
                </a:rPr>
                <a:t>1% Amazon Best Seller</a:t>
              </a:r>
              <a:endParaRPr lang="en-US" altLang="zh-CN" sz="1200">
                <a:solidFill>
                  <a:schemeClr val="tx1"/>
                </a:solidFill>
                <a:sym typeface="+mn-ea"/>
              </a:endParaRPr>
            </a:p>
            <a:p>
              <a:pPr marL="0" indent="0">
                <a:lnSpc>
                  <a:spcPct val="100000"/>
                </a:lnSpc>
              </a:pPr>
              <a:r>
                <a:rPr lang="zh-CN" altLang="en-US" sz="1200" b="0" i="0">
                  <a:solidFill>
                    <a:schemeClr val="tx1"/>
                  </a:solidFill>
                </a:rPr>
                <a:t>定价：</a:t>
              </a:r>
              <a:r>
                <a:rPr lang="en-US" altLang="zh-CN" sz="1200" b="0" i="0">
                  <a:solidFill>
                    <a:schemeClr val="tx1"/>
                  </a:solidFill>
                </a:rPr>
                <a:t>$21.99  /Top50</a:t>
              </a:r>
              <a:r>
                <a:rPr lang="zh-CN" altLang="en-US" sz="1200" b="0" i="0">
                  <a:solidFill>
                    <a:schemeClr val="tx1"/>
                  </a:solidFill>
                </a:rPr>
                <a:t>市场均价：</a:t>
              </a:r>
              <a:r>
                <a:rPr lang="en-US" altLang="zh-CN" sz="1200" b="0" i="0">
                  <a:solidFill>
                    <a:schemeClr val="tx1"/>
                  </a:solidFill>
                </a:rPr>
                <a:t>$27</a:t>
              </a:r>
              <a:endParaRPr lang="en-US" altLang="zh-CN" sz="1200" b="0" i="0">
                <a:solidFill>
                  <a:schemeClr val="tx1"/>
                </a:solidFill>
              </a:endParaRPr>
            </a:p>
            <a:p>
              <a:pPr marL="0" indent="0">
                <a:lnSpc>
                  <a:spcPct val="100000"/>
                </a:lnSpc>
              </a:pPr>
              <a:endParaRPr lang="en-US" altLang="zh-CN" sz="1200" b="0" i="0">
                <a:solidFill>
                  <a:schemeClr val="tx1"/>
                </a:solidFill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10500" y="6530"/>
              <a:ext cx="1521" cy="2126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9180" y="6530"/>
              <a:ext cx="1657" cy="2159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12021" y="6443"/>
              <a:ext cx="1699" cy="2149"/>
            </a:xfrm>
            <a:prstGeom prst="rect">
              <a:avLst/>
            </a:prstGeom>
          </p:spPr>
        </p:pic>
      </p:grpSp>
      <p:sp>
        <p:nvSpPr>
          <p:cNvPr id="35" name="文本框 34"/>
          <p:cNvSpPr txBox="1"/>
          <p:nvPr>
            <p:custDataLst>
              <p:tags r:id="rId26"/>
            </p:custDataLst>
          </p:nvPr>
        </p:nvSpPr>
        <p:spPr>
          <a:xfrm>
            <a:off x="7218680" y="4711065"/>
            <a:ext cx="4519930" cy="164973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Pinspark</a:t>
            </a:r>
            <a:r>
              <a:rPr lang="zh-CN" altLang="en-US">
                <a:solidFill>
                  <a:schemeClr val="tx1"/>
                </a:solidFill>
              </a:rPr>
              <a:t>主要销量在</a:t>
            </a:r>
            <a:r>
              <a:rPr lang="zh-CN" altLang="en-US" b="1">
                <a:solidFill>
                  <a:schemeClr val="tx1"/>
                </a:solidFill>
              </a:rPr>
              <a:t>运动短裤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zh-CN" altLang="en-US" b="1">
                <a:solidFill>
                  <a:schemeClr val="tx1"/>
                </a:solidFill>
              </a:rPr>
              <a:t>运动半裙</a:t>
            </a:r>
            <a:r>
              <a:rPr lang="zh-CN" altLang="en-US">
                <a:solidFill>
                  <a:schemeClr val="tx1"/>
                </a:solidFill>
              </a:rPr>
              <a:t>类目。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其中</a:t>
            </a:r>
            <a:r>
              <a:rPr lang="zh-CN" altLang="en-US" b="1">
                <a:solidFill>
                  <a:schemeClr val="tx1"/>
                </a:solidFill>
              </a:rPr>
              <a:t>运动半裙</a:t>
            </a:r>
            <a:r>
              <a:rPr lang="zh-CN" altLang="en-US">
                <a:solidFill>
                  <a:schemeClr val="tx1"/>
                </a:solidFill>
              </a:rPr>
              <a:t>的市场占有率较高。</a:t>
            </a:r>
            <a:endParaRPr lang="zh-CN" altLang="en-US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Pinspark</a:t>
            </a:r>
            <a:r>
              <a:rPr lang="zh-CN" altLang="en-US">
                <a:solidFill>
                  <a:schemeClr val="tx1"/>
                </a:solidFill>
              </a:rPr>
              <a:t>的产品在亚马逊</a:t>
            </a:r>
            <a:r>
              <a:rPr lang="en-US" altLang="zh-CN">
                <a:solidFill>
                  <a:schemeClr val="tx1"/>
                </a:solidFill>
              </a:rPr>
              <a:t>best seller top 50/100</a:t>
            </a:r>
            <a:r>
              <a:rPr lang="zh-CN" altLang="en-US">
                <a:solidFill>
                  <a:schemeClr val="tx1"/>
                </a:solidFill>
              </a:rPr>
              <a:t>中均有</a:t>
            </a:r>
            <a:r>
              <a:rPr lang="zh-CN" altLang="en-US" b="1">
                <a:solidFill>
                  <a:schemeClr val="tx1"/>
                </a:solidFill>
              </a:rPr>
              <a:t>价格优势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6" name="图表 35"/>
          <p:cNvGraphicFramePr/>
          <p:nvPr>
            <p:custDataLst>
              <p:tags r:id="rId27"/>
            </p:custDataLst>
          </p:nvPr>
        </p:nvGraphicFramePr>
        <p:xfrm>
          <a:off x="8027035" y="660400"/>
          <a:ext cx="4097020" cy="321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62610" y="15362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品类</a:t>
            </a: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7255" y="2101850"/>
            <a:ext cx="1002665" cy="972185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2710180" y="911860"/>
            <a:ext cx="2400935" cy="2189480"/>
            <a:chOff x="4268" y="1436"/>
            <a:chExt cx="3781" cy="3448"/>
          </a:xfrm>
        </p:grpSpPr>
        <p:pic>
          <p:nvPicPr>
            <p:cNvPr id="14" name="图片 13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6375" y="1436"/>
              <a:ext cx="1674" cy="1812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268" y="1436"/>
              <a:ext cx="2001" cy="1812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390" y="3308"/>
              <a:ext cx="1835" cy="1576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336550" y="896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8</a:t>
            </a:r>
            <a:r>
              <a:rPr lang="zh-CN" altLang="en-US" dirty="0"/>
              <a:t>月数据</a:t>
            </a:r>
            <a:endParaRPr lang="zh-CN" altLang="en-US" dirty="0"/>
          </a:p>
        </p:txBody>
      </p:sp>
    </p:spTree>
    <p:custDataLst>
      <p:tags r:id="rId3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图表 3"/>
          <p:cNvGraphicFramePr/>
          <p:nvPr>
            <p:custDataLst>
              <p:tags r:id="rId6"/>
            </p:custDataLst>
          </p:nvPr>
        </p:nvGraphicFramePr>
        <p:xfrm>
          <a:off x="8300085" y="4057015"/>
          <a:ext cx="3865880" cy="2553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>
            <p:custDataLst>
              <p:tags r:id="rId7"/>
            </p:custDataLst>
          </p:nvPr>
        </p:nvGraphicFramePr>
        <p:xfrm>
          <a:off x="258445" y="1483360"/>
          <a:ext cx="4026535" cy="2482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>
            <p:custDataLst>
              <p:tags r:id="rId8"/>
            </p:custDataLst>
          </p:nvPr>
        </p:nvGraphicFramePr>
        <p:xfrm>
          <a:off x="258445" y="4056380"/>
          <a:ext cx="3174365" cy="2553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/>
          <p:cNvGraphicFramePr/>
          <p:nvPr>
            <p:custDataLst>
              <p:tags r:id="rId9"/>
            </p:custDataLst>
          </p:nvPr>
        </p:nvGraphicFramePr>
        <p:xfrm>
          <a:off x="3432810" y="4057015"/>
          <a:ext cx="4867275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图表 7"/>
          <p:cNvGraphicFramePr/>
          <p:nvPr>
            <p:custDataLst>
              <p:tags r:id="rId10"/>
            </p:custDataLst>
          </p:nvPr>
        </p:nvGraphicFramePr>
        <p:xfrm>
          <a:off x="4436110" y="1391920"/>
          <a:ext cx="7352665" cy="266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534035" y="868045"/>
            <a:ext cx="10670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Pinspark</a:t>
            </a:r>
            <a:r>
              <a:rPr lang="zh-CN" altLang="en-US">
                <a:solidFill>
                  <a:schemeClr val="tx1"/>
                </a:solidFill>
              </a:rPr>
              <a:t>亚马逊</a:t>
            </a:r>
            <a:r>
              <a:rPr lang="en-US" altLang="zh-CN">
                <a:solidFill>
                  <a:schemeClr val="tx1"/>
                </a:solidFill>
              </a:rPr>
              <a:t>2024Q2</a:t>
            </a:r>
            <a:r>
              <a:rPr lang="zh-CN" altLang="en-US">
                <a:solidFill>
                  <a:schemeClr val="tx1"/>
                </a:solidFill>
              </a:rPr>
              <a:t>过去</a:t>
            </a: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季度主要销售的客群：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35-54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岁千禧和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GENX</a:t>
            </a:r>
            <a:r>
              <a:rPr lang="zh-CN" altLang="en-US">
                <a:solidFill>
                  <a:schemeClr val="tx1"/>
                </a:solidFill>
              </a:rPr>
              <a:t>社区大学或本科毕业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中等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家庭</a:t>
            </a:r>
            <a:r>
              <a:rPr lang="zh-CN" altLang="en-US">
                <a:solidFill>
                  <a:schemeClr val="tx1"/>
                </a:solidFill>
              </a:rPr>
              <a:t>收入的已婚女性。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258445" y="6429375"/>
            <a:ext cx="10859135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i="1">
                <a:solidFill>
                  <a:schemeClr val="tx1"/>
                </a:solidFill>
              </a:rPr>
              <a:t>根据2023美国收入水平，中等收入层级$61,000-183,000，低收入为$61,000以下，高收入为$183000+</a:t>
            </a:r>
            <a:endParaRPr lang="zh-CN" altLang="en-US" sz="1200" i="1">
              <a:solidFill>
                <a:schemeClr val="tx1"/>
              </a:solidFill>
            </a:endParaRPr>
          </a:p>
          <a:p>
            <a:r>
              <a:rPr lang="en-US" altLang="zh-CN" sz="1200" i="1">
                <a:solidFill>
                  <a:schemeClr val="tx1"/>
                </a:solidFill>
              </a:rPr>
              <a:t>2018</a:t>
            </a:r>
            <a:r>
              <a:rPr lang="zh-CN" altLang="en-US" sz="1200" i="1">
                <a:solidFill>
                  <a:schemeClr val="tx1"/>
                </a:solidFill>
              </a:rPr>
              <a:t>年美国人口普查居提供数据，美国</a:t>
            </a:r>
            <a:r>
              <a:rPr lang="en-US" altLang="zh-CN" sz="1200" i="1">
                <a:solidFill>
                  <a:schemeClr val="tx1"/>
                </a:solidFill>
              </a:rPr>
              <a:t>25</a:t>
            </a:r>
            <a:r>
              <a:rPr lang="zh-CN" altLang="en-US" sz="1200" i="1">
                <a:solidFill>
                  <a:schemeClr val="tx1"/>
                </a:solidFill>
              </a:rPr>
              <a:t>岁以上的人中</a:t>
            </a:r>
            <a:r>
              <a:rPr lang="en-US" altLang="zh-CN" sz="1200" i="1">
                <a:solidFill>
                  <a:schemeClr val="tx1"/>
                </a:solidFill>
              </a:rPr>
              <a:t> </a:t>
            </a:r>
            <a:r>
              <a:rPr lang="zh-CN" altLang="en-US" sz="1200" i="1">
                <a:solidFill>
                  <a:schemeClr val="tx1"/>
                </a:solidFill>
              </a:rPr>
              <a:t>有</a:t>
            </a:r>
            <a:r>
              <a:rPr lang="en-US" altLang="zh-CN" sz="1200" i="1">
                <a:solidFill>
                  <a:schemeClr val="tx1"/>
                </a:solidFill>
                <a:hlinkClick r:id="rId13" action="ppaction://hlinkfile"/>
              </a:rPr>
              <a:t>61%</a:t>
            </a:r>
            <a:r>
              <a:rPr lang="zh-CN" altLang="en-US" sz="1200" i="1">
                <a:solidFill>
                  <a:schemeClr val="tx1"/>
                </a:solidFill>
              </a:rPr>
              <a:t>拥有社区大学及以上教育水平</a:t>
            </a:r>
            <a:endParaRPr lang="zh-CN" altLang="en-US" sz="1200" i="1">
              <a:solidFill>
                <a:schemeClr val="tx1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14791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受众特征—亚马逊受众</a:t>
            </a:r>
            <a:endParaRPr lang="zh-CN" altLang="en-US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38200" y="1546860"/>
          <a:ext cx="5975985" cy="4480560"/>
        </p:xfrm>
        <a:graphic>
          <a:graphicData uri="http://schemas.openxmlformats.org/drawingml/2006/table">
            <a:tbl>
              <a:tblPr/>
              <a:tblGrid>
                <a:gridCol w="2867660"/>
                <a:gridCol w="1554480"/>
                <a:gridCol w="1553845"/>
              </a:tblGrid>
              <a:tr h="373380">
                <a:tc>
                  <a:txBody>
                    <a:bodyPr/>
                    <a:p>
                      <a:pPr algn="l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品牌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亚马逊</a:t>
                      </a:r>
                      <a:endParaRPr lang="zh-CN" altLang="en-US" sz="1100" b="1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求和项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月销量 </a:t>
                      </a:r>
                      <a:endParaRPr lang="zh-CN" altLang="en-US" sz="1100" b="1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平均值项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</a:rPr>
                        <a:t>: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</a:rPr>
                        <a:t>价格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</a:rPr>
                        <a:t>($)</a:t>
                      </a:r>
                      <a:endParaRPr lang="en-US" altLang="zh-CN" sz="1100" b="1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CRZ YOGA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220,409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27.81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1AADF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BALEAF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120,806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20.39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AUTOMET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85,735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22.89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THE GYM PEOPLE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81,727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20.49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G Gradual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79,202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27.69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Sunzel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75,182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20.99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Real Essentials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57,015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35.21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CAMPSNAIL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56,947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15.81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PINSPARK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49,836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20.66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BMJL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48,527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22.66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YEOREO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 46,752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</a:rPr>
                        <a:t>23.99 </a:t>
                      </a:r>
                      <a:endParaRPr lang="en-US" altLang="zh-CN" sz="1100" b="0" i="0">
                        <a:solidFill>
                          <a:srgbClr val="000000"/>
                        </a:solidFill>
                      </a:endParaRPr>
                    </a:p>
                  </a:txBody>
                  <a:tcPr marL="7937" marR="7937" marT="79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竞品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运动</a:t>
            </a:r>
            <a:r>
              <a:rPr lang="zh-CN" altLang="en-US"/>
              <a:t>短裙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样本</a:t>
            </a:r>
            <a:r>
              <a:rPr lang="zh-CN" altLang="en-US"/>
              <a:t>描述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462645" y="1938655"/>
            <a:ext cx="3448050" cy="2512060"/>
            <a:chOff x="5928" y="2832"/>
            <a:chExt cx="5430" cy="3940"/>
          </a:xfrm>
        </p:grpSpPr>
        <p:pic>
          <p:nvPicPr>
            <p:cNvPr id="7" name="ID_F95746B77D2847F1904BD5B016C2318C"/>
            <p:cNvPicPr>
              <a:picLocks noChangeAspect="1"/>
            </p:cNvPicPr>
            <p:nvPr/>
          </p:nvPicPr>
          <p:blipFill>
            <a:blip r:embed="rId1" r:link="rId2"/>
            <a:stretch>
              <a:fillRect/>
            </a:stretch>
          </p:blipFill>
          <p:spPr>
            <a:xfrm>
              <a:off x="5928" y="2833"/>
              <a:ext cx="1488" cy="1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ID_FD61E8866D324801BCA204E388EA9213"/>
            <p:cNvPicPr>
              <a:picLocks noChangeAspect="1"/>
            </p:cNvPicPr>
            <p:nvPr/>
          </p:nvPicPr>
          <p:blipFill>
            <a:blip r:embed="rId3" r:link="rId2"/>
            <a:stretch>
              <a:fillRect/>
            </a:stretch>
          </p:blipFill>
          <p:spPr>
            <a:xfrm>
              <a:off x="7459" y="2832"/>
              <a:ext cx="1918" cy="1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ID_7A4DCF940D9B443580AF5FEB302928CD"/>
            <p:cNvPicPr>
              <a:picLocks noChangeAspect="1"/>
            </p:cNvPicPr>
            <p:nvPr/>
          </p:nvPicPr>
          <p:blipFill>
            <a:blip r:embed="rId4" r:link="rId2"/>
            <a:stretch>
              <a:fillRect/>
            </a:stretch>
          </p:blipFill>
          <p:spPr>
            <a:xfrm>
              <a:off x="9424" y="2832"/>
              <a:ext cx="1935" cy="1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ID_16CFE5CDB40C49ACAFE7AA8BE94CE1DB"/>
            <p:cNvPicPr>
              <a:picLocks noChangeAspect="1"/>
            </p:cNvPicPr>
            <p:nvPr/>
          </p:nvPicPr>
          <p:blipFill>
            <a:blip r:embed="rId5" r:link="rId2"/>
            <a:stretch>
              <a:fillRect/>
            </a:stretch>
          </p:blipFill>
          <p:spPr>
            <a:xfrm>
              <a:off x="5928" y="4897"/>
              <a:ext cx="1488" cy="1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ID_A2DFF9B234E345268A2F1D6303705881" descr="PINSPARK Womens Pleated Tennis Skirt High Waisted Golf Skirts with 3 Pockets Lightweight Athletic Skort Workout Pickleball"/>
            <p:cNvPicPr>
              <a:picLocks noChangeAspect="1"/>
            </p:cNvPicPr>
            <p:nvPr/>
          </p:nvPicPr>
          <p:blipFill>
            <a:blip r:embed="rId6" r:link="rId2"/>
            <a:stretch>
              <a:fillRect/>
            </a:stretch>
          </p:blipFill>
          <p:spPr>
            <a:xfrm>
              <a:off x="7511" y="4824"/>
              <a:ext cx="1813" cy="1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文本框 3"/>
          <p:cNvSpPr txBox="1"/>
          <p:nvPr/>
        </p:nvSpPr>
        <p:spPr>
          <a:xfrm>
            <a:off x="544830" y="5922010"/>
            <a:ext cx="10525760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主要</a:t>
            </a:r>
            <a:r>
              <a:rPr lang="zh-CN" altLang="en-US" dirty="0"/>
              <a:t>购买地区为美国东北部，以及南部</a:t>
            </a:r>
            <a:r>
              <a:rPr lang="zh-CN" altLang="en-US" dirty="0"/>
              <a:t>德州</a:t>
            </a:r>
            <a:endParaRPr lang="zh-CN" alt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/>
              <a:t>好卖的验收只要为黑色、以及白、绿色。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55" y="1402080"/>
            <a:ext cx="8117205" cy="37318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购买前</a:t>
            </a:r>
            <a:r>
              <a:rPr lang="en-US" altLang="zh-CN"/>
              <a:t>-</a:t>
            </a:r>
            <a:r>
              <a:rPr lang="zh-CN" altLang="en-US"/>
              <a:t>搜索</a:t>
            </a:r>
            <a:r>
              <a:rPr lang="zh-CN" altLang="en-US"/>
              <a:t>动机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7190" y="1080135"/>
            <a:ext cx="110261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注：搜索词受数据日期影响大</a:t>
            </a:r>
            <a:r>
              <a:rPr lang="en-US" altLang="zh-CN" sz="1600" i="1">
                <a:solidFill>
                  <a:srgbClr val="252423"/>
                </a:solidFill>
                <a:latin typeface="SegoeUI-Italic"/>
                <a:ea typeface="SegoeUI-Italic"/>
              </a:rPr>
              <a:t>,</a:t>
            </a:r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本次数据为这类款销售旺季</a:t>
            </a:r>
            <a:r>
              <a:rPr lang="en-US" altLang="zh-CN" sz="1600" i="1">
                <a:solidFill>
                  <a:srgbClr val="252423"/>
                </a:solidFill>
                <a:latin typeface="SegoeUI-Italic"/>
                <a:ea typeface="SegoeUI-Italic"/>
              </a:rPr>
              <a:t>202409</a:t>
            </a:r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月的数据</a:t>
            </a:r>
            <a:endParaRPr lang="zh-CN" altLang="en-US" sz="1600" i="1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1417320"/>
            <a:ext cx="4979670" cy="3528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45" y="2929890"/>
            <a:ext cx="7047865" cy="20154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6535" y="5095240"/>
            <a:ext cx="5643245" cy="176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从搜索量看，客户在购买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pinspark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半裙时动机集中在：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品类、</a:t>
            </a:r>
            <a:r>
              <a:rPr lang="zh-CN" altLang="en-US" sz="1600" b="1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颜色、运动场合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以及</a:t>
            </a:r>
            <a:r>
              <a:rPr lang="zh-CN" altLang="en-US" sz="1600" b="1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长度、风格和感觉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上。 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品类：客户在寻找具体的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skirts 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半身裙</a:t>
            </a:r>
            <a:endParaRPr lang="en-US" altLang="zh-CN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颜色： 大部分客户在搜索黑、白、粉、 红色的产品。 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运动场景：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Tennis,golf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是主要的需求 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长度：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mini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为主 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风格： 飘逸、学院是主要的需求风格 </a:t>
            </a:r>
            <a:endParaRPr lang="zh-CN" altLang="en-US" sz="1600" dirty="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85785" y="2003425"/>
            <a:ext cx="3908425" cy="926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在搜索时，含品牌词占比高达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我们这类款式的主要竞对是</a:t>
            </a:r>
            <a:r>
              <a:rPr lang="en-US" altLang="zh-CN" sz="1600">
                <a:solidFill>
                  <a:srgbClr val="2524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free people, lululemon, gold hinge.</a:t>
            </a:r>
            <a:endParaRPr lang="en-US" altLang="zh-CN" sz="160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endParaRPr lang="en-US" altLang="zh-CN" sz="1600" dirty="0">
              <a:solidFill>
                <a:srgbClr val="25242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55" y="1442085"/>
            <a:ext cx="3032760" cy="14630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4949825"/>
            <a:ext cx="824865" cy="1844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990" y="4949825"/>
            <a:ext cx="999490" cy="1844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2980" y="5074920"/>
            <a:ext cx="1519555" cy="17830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120605"/>
            <a:ext cx="10800000" cy="720000"/>
          </a:xfrm>
        </p:spPr>
        <p:txBody>
          <a:bodyPr/>
          <a:p>
            <a:r>
              <a:rPr lang="zh-CN" altLang="en-US"/>
              <a:t>消费者</a:t>
            </a:r>
            <a:r>
              <a:rPr lang="zh-CN" altLang="en-US"/>
              <a:t>画像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1925" y="5713095"/>
            <a:ext cx="9712325" cy="114554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主要客群</a:t>
            </a:r>
            <a:r>
              <a:rPr lang="zh-CN" altLang="en-US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主要为</a:t>
            </a:r>
            <a:r>
              <a:rPr lang="zh-CN" altLang="en-US" sz="1600" b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正常体重</a:t>
            </a:r>
            <a:r>
              <a:rPr lang="en-US" altLang="zh-CN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endParaRPr lang="en-US" altLang="zh-CN" sz="1600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身体特征： 主要特征为</a:t>
            </a:r>
            <a:r>
              <a:rPr lang="en-US" altLang="zh-CN" sz="1600" b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肌肉健美</a:t>
            </a:r>
            <a:r>
              <a:rPr lang="en-US" altLang="zh-CN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型</a:t>
            </a:r>
            <a:endParaRPr lang="en-US" altLang="zh-CN" sz="1600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一定比例是</a:t>
            </a:r>
            <a:r>
              <a:rPr lang="en-US" altLang="zh-CN" sz="1600" b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for为妻子</a:t>
            </a:r>
            <a:r>
              <a:rPr lang="en-US" altLang="zh-CN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购买。</a:t>
            </a:r>
            <a:endParaRPr lang="en-US" altLang="zh-CN" sz="1600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实际</a:t>
            </a:r>
            <a:r>
              <a:rPr lang="en-US" altLang="zh-CN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穿着场合：</a:t>
            </a:r>
            <a:r>
              <a:rPr lang="zh-CN" altLang="en-US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网球、高尔夫等运动场景，和搜索</a:t>
            </a:r>
            <a:r>
              <a:rPr lang="zh-CN" altLang="en-US" sz="1600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altLang="en-US" sz="1600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" y="1379220"/>
            <a:ext cx="5006340" cy="1897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485" y="1310005"/>
            <a:ext cx="4594860" cy="20193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0" y="1310005"/>
            <a:ext cx="2971800" cy="18516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95" y="3276600"/>
            <a:ext cx="3680460" cy="2362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655" y="3297555"/>
            <a:ext cx="3459480" cy="24155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765" y="3270250"/>
            <a:ext cx="3324860" cy="23958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7190" y="941705"/>
            <a:ext cx="110261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注：本次数据为这类款销售至</a:t>
            </a:r>
            <a:r>
              <a:rPr lang="en-US" altLang="zh-CN" sz="1600" i="1">
                <a:solidFill>
                  <a:srgbClr val="252423"/>
                </a:solidFill>
                <a:latin typeface="SegoeUI-Italic"/>
                <a:ea typeface="SegoeUI-Italic"/>
              </a:rPr>
              <a:t>202409</a:t>
            </a:r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月的数据</a:t>
            </a:r>
            <a:endParaRPr lang="zh-CN" altLang="en-US" sz="1600" i="1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715" y="5014595"/>
            <a:ext cx="1118235" cy="16376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898890" y="651510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000" dirty="0"/>
              <a:t>GYMSHARK</a:t>
            </a:r>
            <a:r>
              <a:rPr lang="zh-CN" altLang="en-US" sz="1000" dirty="0"/>
              <a:t>官网专栏：</a:t>
            </a:r>
            <a:r>
              <a:rPr lang="en-US" altLang="zh-CN" sz="1000" dirty="0"/>
              <a:t> Gift for her</a:t>
            </a:r>
            <a:endParaRPr lang="en-US" altLang="zh-CN" sz="1000" dirty="0"/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62185"/>
            <a:ext cx="10800000" cy="720000"/>
          </a:xfrm>
        </p:spPr>
        <p:txBody>
          <a:bodyPr/>
          <a:p>
            <a:r>
              <a:rPr lang="zh-CN" altLang="en-US"/>
              <a:t>购买后</a:t>
            </a:r>
            <a:r>
              <a:rPr lang="en-US" altLang="zh-CN"/>
              <a:t>-</a:t>
            </a:r>
            <a:r>
              <a:rPr lang="zh-CN" altLang="en-US"/>
              <a:t>满意度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0145" y="3831590"/>
            <a:ext cx="3411855" cy="3051175"/>
          </a:xfrm>
          <a:prstGeom prst="rect">
            <a:avLst/>
          </a:prstGeom>
        </p:spPr>
        <p:txBody>
          <a:bodyPr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重要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优势：</a:t>
            </a:r>
            <a:endParaRPr lang="zh-CN" altLang="en-US" sz="1600" b="0" i="0">
              <a:solidFill>
                <a:srgbClr val="252423"/>
              </a:solidFill>
              <a:latin typeface="Segoe UI" panose="020B0502040204020203"/>
              <a:ea typeface="Segoe UI" panose="020B0502040204020203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面料：</a:t>
            </a:r>
            <a:r>
              <a:rPr lang="zh-CN" altLang="en-US" sz="1600" b="1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舒适度、柔软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；</a:t>
            </a:r>
            <a:r>
              <a:rPr lang="en-US" altLang="zh-CN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 </a:t>
            </a:r>
            <a:endParaRPr lang="en-US" altLang="zh-CN" sz="1600" b="0" i="0">
              <a:solidFill>
                <a:srgbClr val="252423"/>
              </a:solidFill>
              <a:latin typeface="Segoe UI" panose="020B0502040204020203"/>
              <a:ea typeface="Segoe UI" panose="020B0502040204020203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功能：口袋设计、平滑、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塑身、易用。</a:t>
            </a:r>
            <a:endParaRPr lang="zh-CN" altLang="en-US" sz="1600" b="0" i="0">
              <a:solidFill>
                <a:srgbClr val="252423"/>
              </a:solidFill>
              <a:latin typeface="Segoe UI" panose="020B0502040204020203"/>
              <a:ea typeface="Segoe UI" panose="020B0502040204020203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尺码合体：可能存在</a:t>
            </a:r>
            <a:r>
              <a:rPr lang="zh-CN" altLang="en-US" sz="1600" b="1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小了、上缩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等问题</a:t>
            </a:r>
            <a:endParaRPr lang="zh-CN" altLang="en-US" sz="1600" b="0" i="0">
              <a:solidFill>
                <a:srgbClr val="252423"/>
              </a:solidFill>
              <a:latin typeface="Segoe UI" panose="020B0502040204020203"/>
              <a:ea typeface="Segoe UI" panose="020B0502040204020203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这类客群在购买后反应</a:t>
            </a:r>
            <a:r>
              <a:rPr lang="zh-CN" altLang="en-US" sz="1600" b="1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尺码表问题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，同时</a:t>
            </a:r>
            <a:r>
              <a:rPr lang="en-US" altLang="zh-CN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22%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在购买后认为是某个品牌的</a:t>
            </a:r>
            <a:r>
              <a:rPr lang="zh-CN" altLang="en-US" sz="1600" b="1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仿版</a:t>
            </a:r>
            <a:r>
              <a:rPr lang="zh-CN" altLang="en-US" sz="1600" b="0" i="0">
                <a:solidFill>
                  <a:srgbClr val="252423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252423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" y="1223645"/>
            <a:ext cx="4742180" cy="22059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75" y="1080135"/>
            <a:ext cx="3611245" cy="23501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245" y="908050"/>
            <a:ext cx="3081020" cy="2522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831590"/>
            <a:ext cx="4551045" cy="24034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475" y="3728085"/>
            <a:ext cx="3688080" cy="25069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2910" y="742950"/>
            <a:ext cx="1102614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注：本次数据为这类款销售至</a:t>
            </a:r>
            <a:r>
              <a:rPr lang="en-US" altLang="zh-CN" sz="1600" i="1">
                <a:solidFill>
                  <a:srgbClr val="252423"/>
                </a:solidFill>
                <a:latin typeface="SegoeUI-Italic"/>
                <a:ea typeface="SegoeUI-Italic"/>
              </a:rPr>
              <a:t>202409</a:t>
            </a:r>
            <a:r>
              <a:rPr lang="zh-CN" altLang="en-US" sz="1600" i="1">
                <a:solidFill>
                  <a:srgbClr val="252423"/>
                </a:solidFill>
                <a:latin typeface="微软雅黑" panose="020B0503020204020204" charset="-122"/>
                <a:ea typeface="微软雅黑" panose="020B0503020204020204" charset="-122"/>
              </a:rPr>
              <a:t>月的数据</a:t>
            </a:r>
            <a:endParaRPr lang="zh-CN" altLang="en-US" sz="1600" i="1">
              <a:solidFill>
                <a:srgbClr val="2524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81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05_1*f*4"/>
  <p:tag name="KSO_WM_TEMPLATE_CATEGORY" val="custom"/>
  <p:tag name="KSO_WM_TEMPLATE_INDEX" val="20233105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SLIDE_ID" val="custom2023310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202"/>
  <p:tag name="KSO_WM_SLIDE_THEME_NAME" val="紫色半圆线条极简风主题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5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4"/>
  <p:tag name="KSO_WM_UNIT_TEXT_FILL_FORE_SCHEMECOLOR_INDEX" val="5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1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2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4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6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6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6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6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6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6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3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i*1_5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6*l_h_a*1_5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538647460938,&quot;left&quot;:493.6455180683286,&quot;top&quot;:50.5261352539062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SLIDE_ID" val="custom20233105_5"/>
  <p:tag name="KSO_WM_TEMPLATE_SUBCATEGORY" val="29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3105"/>
  <p:tag name="KSO_WM_DIAGRAM_GROUP_CODE" val="l1-1"/>
  <p:tag name="KSO_WM_SLIDE_DIAGTYPE" val="l"/>
  <p:tag name="KSO_WM_SLIDE_LAYOUT" val="a_l"/>
  <p:tag name="KSO_WM_SLIDE_LAYOUT_CNT" val="1_1"/>
  <p:tag name="KSO_WM_SLIDE_TYPE" val="contents"/>
  <p:tag name="KSO_WM_SLIDE_SUBTYPE" val="diag"/>
  <p:tag name="KSO_WM_SLIDE_THEME_ID" val="3321202"/>
  <p:tag name="KSO_WM_SLIDE_THEME_NAME" val="紫色半圆线条极简风主题"/>
</p:tagLst>
</file>

<file path=ppt/tags/tag103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104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105.xml><?xml version="1.0" encoding="utf-8"?>
<p:tagLst xmlns:p="http://schemas.openxmlformats.org/presentationml/2006/main">
  <p:tag name="KSO_WM_UNIT_INDEX" val="7"/>
  <p:tag name="KSO_WM_UNIT_TEXT_SUBTYPE" val="a"/>
  <p:tag name="KSO_WM_UNIT_SUBTYPE" val="a"/>
  <p:tag name="KSO_WM_UNIT_TYPE" val="f"/>
  <p:tag name="KSO_WM_BEAUTIFY_FLAG" val="#wm#"/>
</p:tagLst>
</file>

<file path=ppt/tags/tag106.xml><?xml version="1.0" encoding="utf-8"?>
<p:tagLst xmlns:p="http://schemas.openxmlformats.org/presentationml/2006/main">
  <p:tag name="KSO_WM_UNIT_INDEX" val="8"/>
  <p:tag name="KSO_WM_UNIT_TYPE" val="d"/>
  <p:tag name="KSO_WM_BEAUTIFY_FLAG" val="#wm#"/>
</p:tagLst>
</file>

<file path=ppt/tags/tag107.xml><?xml version="1.0" encoding="utf-8"?>
<p:tagLst xmlns:p="http://schemas.openxmlformats.org/presentationml/2006/main">
  <p:tag name="KSO_WM_UNIT_INDEX" val="9"/>
  <p:tag name="KSO_WM_UNIT_TYPE" val="d"/>
  <p:tag name="KSO_WM_BEAUTIFY_FLAG" val="#wm#"/>
</p:tagLst>
</file>

<file path=ppt/tags/tag108.xml><?xml version="1.0" encoding="utf-8"?>
<p:tagLst xmlns:p="http://schemas.openxmlformats.org/presentationml/2006/main">
  <p:tag name="KSO_WM_UNIT_INDEX" val="11"/>
  <p:tag name="KSO_WM_UNIT_TEXT_SUBTYPE" val="a"/>
  <p:tag name="KSO_WM_UNIT_SUBTYPE" val="a"/>
  <p:tag name="KSO_WM_UNIT_TYPE" val="f"/>
  <p:tag name="KSO_WM_BEAUTIFY_FLAG" val="#wm#"/>
</p:tagLst>
</file>

<file path=ppt/tags/tag109.xml><?xml version="1.0" encoding="utf-8"?>
<p:tagLst xmlns:p="http://schemas.openxmlformats.org/presentationml/2006/main">
  <p:tag name="KSO_WM_UNIT_INDEX" val="12"/>
  <p:tag name="KSO_WM_UNIT_TYPE" val="d"/>
  <p:tag name="KSO_WM_BEAUTIFY_FLAG" val="#wm#"/>
</p:tagLst>
</file>

<file path=ppt/tags/tag110.xml><?xml version="1.0" encoding="utf-8"?>
<p:tagLst xmlns:p="http://schemas.openxmlformats.org/presentationml/2006/main">
  <p:tag name="KSO_WM_UNIT_INDEX" val="13"/>
  <p:tag name="KSO_WM_UNIT_TYPE" val="d"/>
  <p:tag name="KSO_WM_BEAUTIFY_FLAG" val="#wm#"/>
</p:tagLst>
</file>

<file path=ppt/tags/tag111.xml><?xml version="1.0" encoding="utf-8"?>
<p:tagLst xmlns:p="http://schemas.openxmlformats.org/presentationml/2006/main">
  <p:tag name="KSO_WM_UNIT_INDEX" val="14"/>
  <p:tag name="KSO_WM_UNIT_TYPE" val="d"/>
  <p:tag name="KSO_WM_BEAUTIFY_FLAG" val="#wm#"/>
</p:tagLst>
</file>

<file path=ppt/tags/tag112.xml><?xml version="1.0" encoding="utf-8"?>
<p:tagLst xmlns:p="http://schemas.openxmlformats.org/presentationml/2006/main">
  <p:tag name="KSO_WM_UNIT_INDEX" val="15"/>
  <p:tag name="KSO_WM_UNIT_TEXT_SUBTYPE" val="a"/>
  <p:tag name="KSO_WM_UNIT_SUBTYPE" val="a"/>
  <p:tag name="KSO_WM_UNIT_TYPE" val="f"/>
  <p:tag name="KSO_WM_BEAUTIFY_FLAG" val="#wm#"/>
</p:tagLst>
</file>

<file path=ppt/tags/tag113.xml><?xml version="1.0" encoding="utf-8"?>
<p:tagLst xmlns:p="http://schemas.openxmlformats.org/presentationml/2006/main">
  <p:tag name="KSO_WM_UNIT_INDEX" val="16"/>
  <p:tag name="KSO_WM_UNIT_TYPE" val="d"/>
  <p:tag name="KSO_WM_BEAUTIFY_FLAG" val="#wm#"/>
</p:tagLst>
</file>

<file path=ppt/tags/tag114.xml><?xml version="1.0" encoding="utf-8"?>
<p:tagLst xmlns:p="http://schemas.openxmlformats.org/presentationml/2006/main">
  <p:tag name="KSO_WM_UNIT_INDEX" val="17"/>
  <p:tag name="KSO_WM_UNIT_TEXT_SUBTYPE" val="a"/>
  <p:tag name="KSO_WM_UNIT_SUBTYPE" val="a"/>
  <p:tag name="KSO_WM_UNIT_TYPE" val="f"/>
  <p:tag name="KSO_WM_BEAUTIFY_FLAG" val="#wm#"/>
</p:tagLst>
</file>

<file path=ppt/tags/tag115.xml><?xml version="1.0" encoding="utf-8"?>
<p:tagLst xmlns:p="http://schemas.openxmlformats.org/presentationml/2006/main">
  <p:tag name="KSO_WM_UNIT_INDEX" val="18"/>
  <p:tag name="KSO_WM_UNIT_TYPE" val="d"/>
  <p:tag name="KSO_WM_BEAUTIFY_FLAG" val="#wm#"/>
</p:tagLst>
</file>

<file path=ppt/tags/tag116.xml><?xml version="1.0" encoding="utf-8"?>
<p:tagLst xmlns:p="http://schemas.openxmlformats.org/presentationml/2006/main">
  <p:tag name="KSO_WM_UNIT_INDEX" val="19"/>
  <p:tag name="KSO_WM_UNIT_TYPE" val="d"/>
  <p:tag name="KSO_WM_BEAUTIFY_FLAG" val="#wm#"/>
</p:tagLst>
</file>

<file path=ppt/tags/tag117.xml><?xml version="1.0" encoding="utf-8"?>
<p:tagLst xmlns:p="http://schemas.openxmlformats.org/presentationml/2006/main">
  <p:tag name="KSO_WM_UNIT_INDEX" val="20"/>
  <p:tag name="KSO_WM_UNIT_TYPE" val="d"/>
  <p:tag name="KSO_WM_BEAUTIFY_FLAG" val="#wm#"/>
</p:tagLst>
</file>

<file path=ppt/tags/tag118.xml><?xml version="1.0" encoding="utf-8"?>
<p:tagLst xmlns:p="http://schemas.openxmlformats.org/presentationml/2006/main">
  <p:tag name="KSO_WM_UNIT_INDEX" val="21"/>
  <p:tag name="KSO_WM_UNIT_TEXT_SUBTYPE" val="a"/>
  <p:tag name="KSO_WM_UNIT_SUBTYPE" val="a"/>
  <p:tag name="KSO_WM_UNIT_TYPE" val="f"/>
  <p:tag name="KSO_WM_BEAUTIFY_FLAG" val="#wm#"/>
</p:tagLst>
</file>

<file path=ppt/tags/tag119.xml><?xml version="1.0" encoding="utf-8"?>
<p:tagLst xmlns:p="http://schemas.openxmlformats.org/presentationml/2006/main">
  <p:tag name="KSO_WM_UNIT_INDEX" val="22"/>
  <p:tag name="KSO_WM_UNIT_TYPE" val="α"/>
  <p:tag name="KSO_WM_BEAUTIFY_FLAG" val="#wm#"/>
</p:tagLst>
</file>

<file path=ppt/tags/tag12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1.xml><?xml version="1.0" encoding="utf-8"?>
<p:tagLst xmlns:p="http://schemas.openxmlformats.org/presentationml/2006/main">
  <p:tag name="KSO_WM_UNIT_INDEX" val="5"/>
  <p:tag name="KSO_WM_UNIT_TYPE" val="d"/>
  <p:tag name="KSO_WM_BEAUTIFY_FLAG" val="#wm#"/>
</p:tagLst>
</file>

<file path=ppt/tags/tag12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3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24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25.xml><?xml version="1.0" encoding="utf-8"?>
<p:tagLst xmlns:p="http://schemas.openxmlformats.org/presentationml/2006/main">
  <p:tag name="KSO_WM_UNIT_INDEX" val="4"/>
  <p:tag name="KSO_WM_UNIT_TYPE" val="α"/>
  <p:tag name="KSO_WM_BEAUTIFY_FLAG" val="#wm#"/>
</p:tagLst>
</file>

<file path=ppt/tags/tag126.xml><?xml version="1.0" encoding="utf-8"?>
<p:tagLst xmlns:p="http://schemas.openxmlformats.org/presentationml/2006/main">
  <p:tag name="KSO_WM_UNIT_INDEX" val="5"/>
  <p:tag name="KSO_WM_UNIT_TYPE" val="α"/>
  <p:tag name="KSO_WM_BEAUTIFY_FLAG" val="#wm#"/>
</p:tagLst>
</file>

<file path=ppt/tags/tag127.xml><?xml version="1.0" encoding="utf-8"?>
<p:tagLst xmlns:p="http://schemas.openxmlformats.org/presentationml/2006/main">
  <p:tag name="KSO_WM_UNIT_INDEX" val="6"/>
  <p:tag name="KSO_WM_UNIT_TYPE" val="α"/>
  <p:tag name="KSO_WM_BEAUTIFY_FLAG" val="#wm#"/>
</p:tagLst>
</file>

<file path=ppt/tags/tag128.xml><?xml version="1.0" encoding="utf-8"?>
<p:tagLst xmlns:p="http://schemas.openxmlformats.org/presentationml/2006/main">
  <p:tag name="KSO_WM_UNIT_INDEX" val="7"/>
  <p:tag name="KSO_WM_UNIT_TEXT_SUBTYPE" val="a"/>
  <p:tag name="KSO_WM_UNIT_SUBTYPE" val="a"/>
  <p:tag name="KSO_WM_UNIT_TYPE" val="f"/>
  <p:tag name="KSO_WM_BEAUTIFY_FLAG" val="#wm#"/>
</p:tagLst>
</file>

<file path=ppt/tags/tag129.xml><?xml version="1.0" encoding="utf-8"?>
<p:tagLst xmlns:p="http://schemas.openxmlformats.org/presentationml/2006/main">
  <p:tag name="KSO_WM_UNIT_INDEX" val="8"/>
  <p:tag name="KSO_WM_UNIT_TYPE" val="k"/>
  <p:tag name="KSO_WM_BEAUTIFY_FLAG" val="#wm#"/>
</p:tagLst>
</file>

<file path=ppt/tags/tag13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2.xml><?xml version="1.0" encoding="utf-8"?>
<p:tagLst xmlns:p="http://schemas.openxmlformats.org/presentationml/2006/main">
  <p:tag name="KSO_WM_UNIT_INDEX" val="2"/>
  <p:tag name="KSO_WM_UNIT_TYPE" val="β"/>
  <p:tag name="KSO_WM_BEAUTIFY_FLAG" val="#wm#"/>
  <p:tag name="TABLE_ENDDRAG_ORIGIN_RECT" val="470*352"/>
  <p:tag name="TABLE_ENDDRAG_RECT" val="66*121*470*352"/>
</p:tagLst>
</file>

<file path=ppt/tags/tag13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34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33105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3105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105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33105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33105"/>
</p:tagLst>
</file>

<file path=ppt/tags/tag140.xml><?xml version="1.0" encoding="utf-8"?>
<p:tagLst xmlns:p="http://schemas.openxmlformats.org/presentationml/2006/main">
  <p:tag name="commondata" val="eyJoZGlkIjoiNTJmNTU1Y2MzMjk1YzIwNWYzNTBmOWI5NjE5MmQyNTIifQ=="/>
  <p:tag name="resource_record_key" val="{&quot;70&quot;:[331240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1559</Words>
  <Application>WPS 演示</Application>
  <PresentationFormat>宽屏</PresentationFormat>
  <Paragraphs>200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Wingdings</vt:lpstr>
      <vt:lpstr>SegoeUI-Italic</vt:lpstr>
      <vt:lpstr>Segoe Print</vt:lpstr>
      <vt:lpstr>Segoe UI</vt:lpstr>
      <vt:lpstr>Arial Unicode MS</vt:lpstr>
      <vt:lpstr>Calibri</vt:lpstr>
      <vt:lpstr>WPS</vt:lpstr>
      <vt:lpstr>1_Office 主题​​</vt:lpstr>
      <vt:lpstr>PowerPoint 演示文稿</vt:lpstr>
      <vt:lpstr>PowerPoint 演示文稿</vt:lpstr>
      <vt:lpstr>目录</vt:lpstr>
      <vt:lpstr>品类</vt:lpstr>
      <vt:lpstr>受众特征—亚马逊受众</vt:lpstr>
      <vt:lpstr>竞品</vt:lpstr>
      <vt:lpstr>运动短裙</vt:lpstr>
      <vt:lpstr>样本描述</vt:lpstr>
      <vt:lpstr>购买前-搜索动机</vt:lpstr>
      <vt:lpstr>消费者画像</vt:lpstr>
      <vt:lpstr>购买后-满意度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OCD</cp:lastModifiedBy>
  <cp:revision>18</cp:revision>
  <dcterms:created xsi:type="dcterms:W3CDTF">2023-08-09T12:44:00Z</dcterms:created>
  <dcterms:modified xsi:type="dcterms:W3CDTF">2024-12-06T02:36:37Z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