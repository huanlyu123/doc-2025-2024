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3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3"/>
    <p:sldId id="257" r:id="rId4"/>
    <p:sldId id="259" r:id="rId5"/>
    <p:sldId id="269" r:id="rId6"/>
    <p:sldId id="258" r:id="rId7"/>
    <p:sldId id="261" r:id="rId8"/>
    <p:sldId id="260" r:id="rId9"/>
    <p:sldId id="270" r:id="rId10"/>
    <p:sldId id="272" r:id="rId11"/>
    <p:sldId id="271" r:id="rId13"/>
    <p:sldId id="262" r:id="rId14"/>
    <p:sldId id="273" r:id="rId15"/>
    <p:sldId id="263" r:id="rId16"/>
    <p:sldId id="264" r:id="rId17"/>
    <p:sldId id="265" r:id="rId18"/>
    <p:sldId id="266" r:id="rId19"/>
  </p:sldIdLst>
  <p:sldSz cx="12192000" cy="6858000"/>
  <p:notesSz cx="6858000" cy="9144000"/>
  <p:custDataLst>
    <p:tags r:id="rId2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gs" Target="tags/tag8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https://workingnotworking.com/projects/396702-cider-get-the-look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5.xml"/><Relationship Id="rId3" Type="http://schemas.openxmlformats.org/officeDocument/2006/relationships/image" Target="../media/image1.png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7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8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6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0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1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72.xml"/><Relationship Id="rId6" Type="http://schemas.openxmlformats.org/officeDocument/2006/relationships/image" Target="../media/image11.jpe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73.xml"/><Relationship Id="rId4" Type="http://schemas.openxmlformats.org/officeDocument/2006/relationships/image" Target="../media/image15.png"/><Relationship Id="rId3" Type="http://schemas.openxmlformats.org/officeDocument/2006/relationships/image" Target="../media/image14.jpeg"/><Relationship Id="rId2" Type="http://schemas.openxmlformats.org/officeDocument/2006/relationships/image" Target="../media/image13.webp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74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75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6.xml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7.xml"/><Relationship Id="rId1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8.xml"/><Relationship Id="rId1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9.xml"/><Relationship Id="rId1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365" cy="688530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品牌概述</a:t>
            </a:r>
            <a:endParaRPr lang="zh-CN" altLang="en-US"/>
          </a:p>
          <a:p>
            <a:r>
              <a:rPr lang="zh-CN" altLang="en-US"/>
              <a:t>品牌风格分析</a:t>
            </a:r>
            <a:endParaRPr lang="zh-CN" altLang="en-US"/>
          </a:p>
          <a:p>
            <a:r>
              <a:rPr lang="zh-CN" altLang="en-US"/>
              <a:t>市场策略研究</a:t>
            </a:r>
            <a:endParaRPr lang="zh-CN" altLang="en-US"/>
          </a:p>
          <a:p>
            <a:r>
              <a:rPr lang="zh-CN" altLang="en-US"/>
              <a:t>品牌定位探讨</a:t>
            </a:r>
            <a:endParaRPr lang="zh-CN" altLang="en-US"/>
          </a:p>
          <a:p>
            <a:r>
              <a:rPr lang="zh-CN" altLang="en-US"/>
              <a:t>消费者反馈</a:t>
            </a:r>
            <a:endParaRPr lang="zh-CN" altLang="en-US"/>
          </a:p>
          <a:p>
            <a:r>
              <a:rPr lang="zh-CN" altLang="en-US"/>
              <a:t>学习方向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-5715" y="0"/>
            <a:ext cx="12197715" cy="6858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147550" cy="685546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/>
              <a:t>1</a:t>
            </a:r>
            <a:r>
              <a:rPr lang="zh-CN" altLang="en-US"/>
              <a:t>、品牌故事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149455" cy="679069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785735" y="51371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价格亲民 $11 T-shirts to $60 jackets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499815"/>
            <a:ext cx="10969200" cy="705600"/>
          </a:xfrm>
        </p:spPr>
        <p:txBody>
          <a:bodyPr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p>
            <a:r>
              <a:rPr lang="zh-CN" altLang="en-US">
                <a:ln>
                  <a:solidFill>
                    <a:schemeClr val="accent2"/>
                  </a:solidFill>
                </a:ln>
                <a:solidFill>
                  <a:schemeClr val="accent2"/>
                </a:solidFill>
                <a:effectLst/>
              </a:rPr>
              <a:t>里程碑</a:t>
            </a:r>
            <a:endParaRPr lang="zh-CN" altLang="en-US">
              <a:ln>
                <a:solidFill>
                  <a:schemeClr val="accent2"/>
                </a:solidFill>
              </a:ln>
              <a:solidFill>
                <a:schemeClr val="accent2"/>
              </a:solidFill>
              <a:effectLst/>
            </a:endParaRPr>
          </a:p>
        </p:txBody>
      </p:sp>
      <p:pic>
        <p:nvPicPr>
          <p:cNvPr id="10" name="内容占位符 9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47395" y="1439545"/>
            <a:ext cx="7211695" cy="522922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493465"/>
            <a:ext cx="10969200" cy="705600"/>
          </a:xfrm>
        </p:spPr>
        <p:txBody>
          <a:bodyPr vert="horz" lIns="90000" tIns="46800" rIns="90000" bIns="46800" rtlCol="0" anchor="ctr" anchorCtr="0">
            <a:norm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p>
            <a:pPr lvl="0" algn="l">
              <a:buClrTx/>
              <a:buSzTx/>
              <a:buFontTx/>
            </a:pPr>
            <a:r>
              <a:rPr lang="zh-CN" altLang="en-US" b="1">
                <a:ln>
                  <a:solidFill>
                    <a:schemeClr val="accent2"/>
                  </a:solidFill>
                </a:ln>
                <a:solidFill>
                  <a:schemeClr val="accent2"/>
                </a:solidFill>
                <a:effectLst/>
                <a:sym typeface="+mn-ea"/>
              </a:rPr>
              <a:t>品牌体验</a:t>
            </a:r>
            <a:endParaRPr lang="zh-CN" altLang="en-US" b="1">
              <a:ln>
                <a:solidFill>
                  <a:schemeClr val="accent2"/>
                </a:solidFill>
              </a:ln>
              <a:solidFill>
                <a:schemeClr val="accent2"/>
              </a:solidFill>
              <a:effectLst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97180" y="4979035"/>
            <a:ext cx="3832860" cy="82994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200" i="1"/>
              <a:t>7 Nov 2023 </a:t>
            </a:r>
            <a:r>
              <a:rPr lang="zh-CN" altLang="en-US" sz="1200" i="1"/>
              <a:t>纽约</a:t>
            </a:r>
            <a:endParaRPr lang="en-US" altLang="zh-CN" sz="1200" i="1"/>
          </a:p>
          <a:p>
            <a:r>
              <a:rPr lang="en-US" altLang="zh-CN" sz="1200" i="1"/>
              <a:t>New York City store </a:t>
            </a:r>
            <a:r>
              <a:rPr lang="zh-CN" altLang="en-US" sz="1200" i="1"/>
              <a:t>从事展示、销售、活动组织。</a:t>
            </a:r>
            <a:r>
              <a:rPr lang="en-US" altLang="zh-CN" sz="1200" i="1"/>
              <a:t> </a:t>
            </a:r>
            <a:r>
              <a:rPr lang="zh-CN" altLang="en-US" sz="1200" i="1">
                <a:solidFill>
                  <a:srgbClr val="666666"/>
                </a:solidFill>
                <a:latin typeface="Lora"/>
                <a:ea typeface="Lora"/>
              </a:rPr>
              <a:t>该空间还设有“</a:t>
            </a:r>
            <a:r>
              <a:rPr lang="en-US" altLang="zh-CN" sz="1200" i="1">
                <a:solidFill>
                  <a:srgbClr val="666666"/>
                </a:solidFill>
                <a:latin typeface="Lora"/>
                <a:ea typeface="Lora"/>
              </a:rPr>
              <a:t>Cider Basics”</a:t>
            </a:r>
            <a:r>
              <a:rPr lang="zh-CN" altLang="en-US" sz="1200" i="1">
                <a:solidFill>
                  <a:srgbClr val="666666"/>
                </a:solidFill>
                <a:latin typeface="Lora"/>
                <a:ea typeface="Lora"/>
              </a:rPr>
              <a:t>区以及特殊的“</a:t>
            </a:r>
            <a:r>
              <a:rPr lang="en-US" altLang="zh-CN" sz="1200" i="1">
                <a:solidFill>
                  <a:srgbClr val="666666"/>
                </a:solidFill>
                <a:latin typeface="Lora"/>
                <a:ea typeface="Lora"/>
              </a:rPr>
              <a:t>NYC Capsule”</a:t>
            </a:r>
            <a:r>
              <a:rPr lang="zh-CN" altLang="en-US" sz="1200" i="1">
                <a:solidFill>
                  <a:srgbClr val="666666"/>
                </a:solidFill>
                <a:latin typeface="Lora"/>
                <a:ea typeface="Lora"/>
              </a:rPr>
              <a:t>系列，并配有刺绣站供您个性化定制。</a:t>
            </a:r>
            <a:endParaRPr lang="zh-CN" altLang="en-US" sz="1200" i="1">
              <a:solidFill>
                <a:srgbClr val="666666"/>
              </a:solidFill>
              <a:latin typeface="Lora"/>
              <a:ea typeface="Lora"/>
            </a:endParaRPr>
          </a:p>
        </p:txBody>
      </p:sp>
      <p:pic>
        <p:nvPicPr>
          <p:cNvPr id="5" name="内容占位符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0645" y="1891665"/>
            <a:ext cx="4444365" cy="285877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48665" y="1418590"/>
            <a:ext cx="11074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线下店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179695" y="1418590"/>
            <a:ext cx="11074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POP UP</a:t>
            </a:r>
            <a:endParaRPr lang="en-US" altLang="zh-CN"/>
          </a:p>
        </p:txBody>
      </p:sp>
      <p:sp>
        <p:nvSpPr>
          <p:cNvPr id="9" name="文本框 8"/>
          <p:cNvSpPr txBox="1"/>
          <p:nvPr/>
        </p:nvSpPr>
        <p:spPr>
          <a:xfrm>
            <a:off x="4607560" y="519430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 i="1"/>
              <a:t> 2023 </a:t>
            </a:r>
            <a:r>
              <a:rPr lang="zh-CN" altLang="en-US" sz="1200" i="1"/>
              <a:t>首尔</a:t>
            </a:r>
            <a:r>
              <a:rPr lang="en-US" altLang="zh-CN" sz="1200" i="1"/>
              <a:t> </a:t>
            </a:r>
            <a:r>
              <a:rPr lang="zh-CN" altLang="en-US" sz="1200" i="1"/>
              <a:t>纽约</a:t>
            </a:r>
            <a:endParaRPr lang="zh-CN" altLang="en-US" sz="1200" i="1"/>
          </a:p>
          <a:p>
            <a:r>
              <a:rPr lang="zh-CN" altLang="en-US" sz="1200" i="1"/>
              <a:t>四种心情共享空间、试穿、购买、满赠、抽奖。</a:t>
            </a:r>
            <a:endParaRPr lang="zh-CN" altLang="en-US" sz="1200" i="1"/>
          </a:p>
        </p:txBody>
      </p:sp>
      <p:grpSp>
        <p:nvGrpSpPr>
          <p:cNvPr id="14" name="组合 13"/>
          <p:cNvGrpSpPr/>
          <p:nvPr/>
        </p:nvGrpSpPr>
        <p:grpSpPr>
          <a:xfrm>
            <a:off x="4607560" y="1786890"/>
            <a:ext cx="4146550" cy="3407410"/>
            <a:chOff x="8094" y="3112"/>
            <a:chExt cx="6530" cy="5366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044" y="3112"/>
              <a:ext cx="3580" cy="3238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496" y="5277"/>
              <a:ext cx="2360" cy="3201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094" y="5400"/>
              <a:ext cx="3402" cy="3078"/>
            </a:xfrm>
            <a:prstGeom prst="rect">
              <a:avLst/>
            </a:prstGeom>
          </p:spPr>
        </p:pic>
      </p:grpSp>
      <p:pic>
        <p:nvPicPr>
          <p:cNvPr id="15" name="图片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5010" y="1786890"/>
            <a:ext cx="1955800" cy="1986280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9822815" y="14185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韩国元宇宙社区</a:t>
            </a:r>
            <a:endParaRPr lang="zh-CN" altLang="en-US"/>
          </a:p>
        </p:txBody>
      </p:sp>
      <p:pic>
        <p:nvPicPr>
          <p:cNvPr id="19" name="图片 18"/>
          <p:cNvPicPr/>
          <p:nvPr/>
        </p:nvPicPr>
        <p:blipFill>
          <a:blip r:embed="rId6"/>
          <a:stretch>
            <a:fillRect/>
          </a:stretch>
        </p:blipFill>
        <p:spPr>
          <a:xfrm>
            <a:off x="9027795" y="1717675"/>
            <a:ext cx="3164205" cy="2957830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9234805" y="5194300"/>
            <a:ext cx="265811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i="1"/>
              <a:t>Aug 9, 2022 </a:t>
            </a:r>
            <a:endParaRPr lang="zh-CN" altLang="en-US" sz="1400" i="1"/>
          </a:p>
          <a:p>
            <a:r>
              <a:rPr lang="zh-CN" altLang="en-US" sz="1400" i="1"/>
              <a:t>在 ZEPETO 上可以购买Cider 外观</a:t>
            </a:r>
            <a:endParaRPr lang="zh-CN" altLang="en-US" sz="1400" i="1"/>
          </a:p>
        </p:txBody>
      </p:sp>
    </p:spTree>
    <p:custDataLst>
      <p:tags r:id="rId7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511880"/>
            <a:ext cx="10969200" cy="705600"/>
          </a:xfrm>
        </p:spPr>
        <p:txBody>
          <a:bodyPr vert="horz" lIns="90000" tIns="46800" rIns="90000" bIns="46800" rtlCol="0" anchor="ctr" anchorCtr="0">
            <a:norm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p>
            <a:pPr lvl="0" algn="l">
              <a:buClrTx/>
              <a:buSzTx/>
              <a:buFontTx/>
            </a:pPr>
            <a:r>
              <a:rPr lang="zh-CN" altLang="en-US" b="1">
                <a:ln>
                  <a:solidFill>
                    <a:schemeClr val="accent2"/>
                  </a:solidFill>
                </a:ln>
                <a:solidFill>
                  <a:schemeClr val="accent2"/>
                </a:solidFill>
                <a:effectLst/>
                <a:sym typeface="+mn-ea"/>
              </a:rPr>
              <a:t>线下活动</a:t>
            </a:r>
            <a:endParaRPr lang="zh-CN" altLang="en-US" b="1">
              <a:ln>
                <a:solidFill>
                  <a:schemeClr val="accent2"/>
                </a:solidFill>
              </a:ln>
              <a:solidFill>
                <a:schemeClr val="accent2"/>
              </a:solidFill>
              <a:effectLst/>
              <a:sym typeface="+mn-ea"/>
            </a:endParaRPr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07390" y="2264410"/>
            <a:ext cx="1722755" cy="239014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64210" y="1455420"/>
            <a:ext cx="28841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“</a:t>
            </a:r>
            <a:r>
              <a:rPr lang="en-US" altLang="zh-CN"/>
              <a:t>G</a:t>
            </a:r>
            <a:r>
              <a:rPr lang="zh-CN" altLang="en-US"/>
              <a:t>et the Look”</a:t>
            </a:r>
            <a:endParaRPr lang="en-US" altLang="zh-CN"/>
          </a:p>
          <a:p>
            <a:r>
              <a:rPr lang="en-US" altLang="zh-CN"/>
              <a:t>Out-of-home Campagin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707390" y="5143500"/>
            <a:ext cx="284099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sz="1600" i="1"/>
              <a:t>线下广告牌</a:t>
            </a:r>
            <a:endParaRPr lang="zh-CN" altLang="en-US" sz="1600" i="1"/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sz="1600" i="1"/>
              <a:t>互联网 meme 文化</a:t>
            </a:r>
            <a:endParaRPr lang="zh-CN" altLang="en-US" sz="1600" i="1"/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sz="1600" i="1"/>
              <a:t>情感营销</a:t>
            </a:r>
            <a:endParaRPr lang="zh-CN" altLang="en-US" sz="1600" i="1"/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sz="1600" i="1"/>
              <a:t>线上互动</a:t>
            </a:r>
            <a:endParaRPr lang="zh-CN" altLang="en-US" sz="1600" i="1"/>
          </a:p>
        </p:txBody>
      </p:sp>
      <p:pic>
        <p:nvPicPr>
          <p:cNvPr id="8" name="图片 7"/>
          <p:cNvPicPr/>
          <p:nvPr/>
        </p:nvPicPr>
        <p:blipFill>
          <a:blip r:embed="rId2"/>
          <a:stretch>
            <a:fillRect/>
          </a:stretch>
        </p:blipFill>
        <p:spPr>
          <a:xfrm>
            <a:off x="2489200" y="2338705"/>
            <a:ext cx="1434465" cy="241554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5265420" y="1522730"/>
            <a:ext cx="2444750" cy="3371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 b="0" i="0">
                <a:solidFill>
                  <a:srgbClr val="15171A"/>
                </a:solidFill>
                <a:latin typeface="-apple-system"/>
                <a:ea typeface="-apple-system"/>
              </a:rPr>
              <a:t>(Hot Girl) Walk™️</a:t>
            </a:r>
            <a:endParaRPr lang="en-US" altLang="zh-CN" sz="1600" b="0" i="0">
              <a:solidFill>
                <a:srgbClr val="15171A"/>
              </a:solidFill>
              <a:latin typeface="-apple-system"/>
              <a:ea typeface="-apple-system"/>
            </a:endParaRPr>
          </a:p>
        </p:txBody>
      </p:sp>
      <p:pic>
        <p:nvPicPr>
          <p:cNvPr id="10" name="图片 9"/>
          <p:cNvPicPr/>
          <p:nvPr/>
        </p:nvPicPr>
        <p:blipFill>
          <a:blip r:embed="rId3"/>
          <a:stretch>
            <a:fillRect/>
          </a:stretch>
        </p:blipFill>
        <p:spPr>
          <a:xfrm>
            <a:off x="4671060" y="2242185"/>
            <a:ext cx="3039110" cy="199834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5245100" y="5147310"/>
            <a:ext cx="281749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 sz="1600">
                <a:solidFill>
                  <a:srgbClr val="15171A"/>
                </a:solidFill>
                <a:latin typeface="-apple-system"/>
                <a:ea typeface="-apple-system"/>
                <a:sym typeface="+mn-ea"/>
              </a:rPr>
              <a:t>(Hot Girl) Walk</a:t>
            </a:r>
            <a:r>
              <a:rPr lang="zh-CN" altLang="en-US" sz="1600">
                <a:solidFill>
                  <a:srgbClr val="15171A"/>
                </a:solidFill>
                <a:latin typeface="-apple-system"/>
                <a:ea typeface="宋体" panose="02010600030101010101" pitchFamily="2" charset="-122"/>
                <a:sym typeface="+mn-ea"/>
              </a:rPr>
              <a:t>组织</a:t>
            </a:r>
            <a:endParaRPr lang="zh-CN" altLang="en-US" sz="1600"/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sz="1600"/>
              <a:t>线下城市徒步</a:t>
            </a:r>
            <a:endParaRPr lang="zh-CN" altLang="en-US" sz="1600"/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sz="1600"/>
              <a:t>礼品</a:t>
            </a:r>
            <a:r>
              <a:rPr lang="en-US" altLang="zh-CN" sz="1600"/>
              <a:t>&amp;</a:t>
            </a:r>
            <a:r>
              <a:rPr lang="zh-CN" altLang="en-US" sz="1600"/>
              <a:t>食物</a:t>
            </a:r>
            <a:endParaRPr lang="zh-CN" altLang="en-US" sz="1600"/>
          </a:p>
          <a:p>
            <a:pPr marL="285750" indent="-285750">
              <a:buFont typeface="Wingdings" panose="05000000000000000000" charset="0"/>
              <a:buChar char="Ø"/>
            </a:pPr>
            <a:endParaRPr lang="zh-CN" altLang="en-US" sz="1600"/>
          </a:p>
          <a:p>
            <a:endParaRPr lang="zh-CN" altLang="en-US" sz="1600"/>
          </a:p>
        </p:txBody>
      </p:sp>
      <p:sp>
        <p:nvSpPr>
          <p:cNvPr id="17" name="文本框 16"/>
          <p:cNvSpPr txBox="1"/>
          <p:nvPr/>
        </p:nvSpPr>
        <p:spPr>
          <a:xfrm>
            <a:off x="9427210" y="1522730"/>
            <a:ext cx="2705100" cy="3371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/>
            <a:r>
              <a:rPr lang="en-US" altLang="zh-CN" sz="1600" b="0" i="0">
                <a:solidFill>
                  <a:srgbClr val="4D5156"/>
                </a:solidFill>
                <a:latin typeface="Arial" panose="020B0604020202020204"/>
                <a:ea typeface="Arial" panose="020B0604020202020204"/>
              </a:rPr>
              <a:t>Coachella party</a:t>
            </a:r>
            <a:endParaRPr lang="en-US" altLang="zh-CN" sz="1600" b="0" i="0">
              <a:solidFill>
                <a:srgbClr val="4D5156"/>
              </a:solidFill>
              <a:latin typeface="Arial" panose="020B0604020202020204"/>
              <a:ea typeface="Arial" panose="020B0604020202020204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7565" y="2264410"/>
            <a:ext cx="3507740" cy="199136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9109710" y="5024755"/>
            <a:ext cx="3023235" cy="11957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/>
              <a:t>节日着装搭配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/>
              <a:t>科切拉音乐节主题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/>
              <a:t>KOL</a:t>
            </a:r>
            <a:r>
              <a:rPr lang="zh-CN" altLang="en-US"/>
              <a:t>参与打卡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/>
              <a:t>音乐</a:t>
            </a:r>
            <a:r>
              <a:rPr lang="en-US" altLang="zh-CN"/>
              <a:t>&amp;</a:t>
            </a:r>
            <a:r>
              <a:rPr lang="zh-CN" altLang="en-US"/>
              <a:t>鸡尾酒</a:t>
            </a:r>
            <a:endParaRPr lang="zh-CN" altLang="en-US"/>
          </a:p>
        </p:txBody>
      </p:sp>
    </p:spTree>
    <p:custDataLst>
      <p:tags r:id="rId5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402025"/>
            <a:ext cx="10969200" cy="705600"/>
          </a:xfrm>
        </p:spPr>
        <p:txBody>
          <a:bodyPr vert="horz" lIns="90000" tIns="46800" rIns="90000" bIns="46800" rtlCol="0" anchor="ctr" anchorCtr="0">
            <a:norm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p>
            <a:pPr lvl="0" algn="l">
              <a:buClrTx/>
              <a:buSzTx/>
              <a:buFontTx/>
            </a:pPr>
            <a:r>
              <a:rPr lang="zh-CN" altLang="en-US" b="1">
                <a:ln>
                  <a:solidFill>
                    <a:schemeClr val="accent2"/>
                  </a:solidFill>
                </a:ln>
                <a:solidFill>
                  <a:schemeClr val="accent2"/>
                </a:solidFill>
                <a:effectLst/>
                <a:sym typeface="+mn-ea"/>
              </a:rPr>
              <a:t>社会责任与公益</a:t>
            </a:r>
            <a:endParaRPr lang="zh-CN" altLang="en-US" b="1">
              <a:ln>
                <a:solidFill>
                  <a:schemeClr val="accent2"/>
                </a:solidFill>
              </a:ln>
              <a:solidFill>
                <a:schemeClr val="accent2"/>
              </a:solidFill>
              <a:effectLst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44780" y="4718685"/>
            <a:ext cx="3950335" cy="11614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/>
              <a:t>SAD GIRLS CLUB</a:t>
            </a:r>
            <a:r>
              <a:rPr lang="zh-CN" altLang="en-US" sz="1600"/>
              <a:t>联名：</a:t>
            </a:r>
            <a:r>
              <a:rPr lang="en-US" altLang="zh-CN" sz="1600"/>
              <a:t> Feeling Sad</a:t>
            </a:r>
            <a:endParaRPr lang="en-US" altLang="zh-CN" sz="1600"/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sz="1200" i="1"/>
              <a:t>年轻女性心理健康公益机构</a:t>
            </a:r>
            <a:endParaRPr lang="zh-CN" altLang="en-US" sz="1200" i="1"/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sz="1200" i="1"/>
              <a:t>这个机构也生产销售一些周边：茶杯、手机壳、蜡烛</a:t>
            </a:r>
            <a:r>
              <a:rPr lang="en-US" altLang="zh-CN" sz="1200" i="1"/>
              <a:t>...</a:t>
            </a:r>
            <a:endParaRPr lang="en-US" altLang="zh-CN" sz="1200" i="1"/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sz="1200" i="1"/>
              <a:t>联名产品，5% 的商品销售额用于 Sad Girls 的心理健康计划。</a:t>
            </a:r>
            <a:endParaRPr lang="zh-CN" altLang="en-US" sz="1200" i="1"/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sz="1200" i="1"/>
              <a:t>会员故事：</a:t>
            </a:r>
            <a:r>
              <a:rPr lang="en-US" altLang="zh-CN" sz="1200" i="1"/>
              <a:t> </a:t>
            </a:r>
            <a:r>
              <a:rPr lang="zh-CN" altLang="en-US" sz="1200" i="1"/>
              <a:t>音乐人、</a:t>
            </a:r>
            <a:r>
              <a:rPr lang="en-US" altLang="zh-CN" sz="1200" i="1"/>
              <a:t> </a:t>
            </a:r>
            <a:r>
              <a:rPr lang="zh-CN" altLang="en-US" sz="1200" i="1"/>
              <a:t>企业</a:t>
            </a:r>
            <a:r>
              <a:rPr lang="en-US" altLang="zh-CN" sz="1200" i="1"/>
              <a:t>HR</a:t>
            </a:r>
            <a:r>
              <a:rPr lang="zh-CN" altLang="en-US" sz="1200" i="1"/>
              <a:t>、</a:t>
            </a:r>
            <a:r>
              <a:rPr lang="en-US" altLang="zh-CN" sz="1200" i="1"/>
              <a:t> </a:t>
            </a:r>
            <a:r>
              <a:rPr lang="zh-CN" altLang="en-US" sz="1200" i="1"/>
              <a:t>学生、自然环保主义者</a:t>
            </a:r>
            <a:r>
              <a:rPr lang="en-US" altLang="zh-CN" sz="1200" i="1"/>
              <a:t>..</a:t>
            </a:r>
            <a:endParaRPr lang="en-US" altLang="zh-CN" sz="1200" i="1"/>
          </a:p>
        </p:txBody>
      </p:sp>
      <p:pic>
        <p:nvPicPr>
          <p:cNvPr id="7" name="内容占位符 6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29870" y="1433195"/>
            <a:ext cx="3752850" cy="138239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" y="2815590"/>
            <a:ext cx="3752850" cy="168656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4739005" y="4718685"/>
            <a:ext cx="2997835" cy="12274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sz="1400"/>
              <a:t>Zero Tolerance Policy</a:t>
            </a:r>
            <a:endParaRPr lang="zh-CN" altLang="en-US" sz="1400"/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sz="1400"/>
              <a:t>可降解包装</a:t>
            </a:r>
            <a:endParaRPr lang="zh-CN" altLang="en-US" sz="1400"/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sz="1400"/>
              <a:t>再生面料 #ReCider 系列</a:t>
            </a:r>
            <a:endParaRPr lang="zh-CN" altLang="en-US" sz="1400"/>
          </a:p>
        </p:txBody>
      </p:sp>
      <p:grpSp>
        <p:nvGrpSpPr>
          <p:cNvPr id="14" name="组合 13"/>
          <p:cNvGrpSpPr/>
          <p:nvPr/>
        </p:nvGrpSpPr>
        <p:grpSpPr>
          <a:xfrm>
            <a:off x="4095115" y="1358900"/>
            <a:ext cx="4403090" cy="3251835"/>
            <a:chOff x="6991" y="2140"/>
            <a:chExt cx="6934" cy="5121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91" y="2140"/>
              <a:ext cx="6743" cy="3080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91" y="4263"/>
              <a:ext cx="6934" cy="2998"/>
            </a:xfrm>
            <a:prstGeom prst="rect">
              <a:avLst/>
            </a:prstGeom>
          </p:spPr>
        </p:pic>
      </p:grpSp>
      <p:sp>
        <p:nvSpPr>
          <p:cNvPr id="15" name="文本框 14"/>
          <p:cNvSpPr txBox="1"/>
          <p:nvPr/>
        </p:nvSpPr>
        <p:spPr>
          <a:xfrm>
            <a:off x="8855710" y="4718685"/>
            <a:ext cx="3053080" cy="13042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 sz="1400"/>
              <a:t>Pride Month</a:t>
            </a:r>
            <a:endParaRPr lang="zh-CN" altLang="en-US" sz="1400"/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sz="1400"/>
              <a:t>向洛杉矶 LGBT 中心捐赠 1 万美元</a:t>
            </a:r>
            <a:endParaRPr lang="zh-CN" altLang="en-US" sz="1400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 sz="1400"/>
              <a:t>LGBTQ+</a:t>
            </a:r>
            <a:r>
              <a:rPr lang="zh-CN" altLang="en-US" sz="1400"/>
              <a:t>网红拍摄平面素材</a:t>
            </a:r>
            <a:endParaRPr lang="zh-CN" altLang="en-US" sz="1400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5690" y="1358900"/>
            <a:ext cx="3038475" cy="266827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品牌风格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lIns="90000" tIns="46800" rIns="90000" bIns="46800" rtlCol="0" anchor="ctr" anchorCtr="0">
            <a:norm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p>
            <a:pPr lvl="0" algn="l">
              <a:buClrTx/>
              <a:buSzTx/>
              <a:buFontTx/>
            </a:pPr>
            <a:r>
              <a:rPr lang="zh-CN" altLang="en-US" b="1">
                <a:ln>
                  <a:solidFill>
                    <a:schemeClr val="accent2"/>
                  </a:solidFill>
                </a:ln>
                <a:solidFill>
                  <a:schemeClr val="accent2"/>
                </a:solidFill>
                <a:effectLst/>
                <a:sym typeface="+mn-ea"/>
              </a:rPr>
              <a:t>VI</a:t>
            </a:r>
            <a:endParaRPr lang="zh-CN" altLang="en-US" b="1">
              <a:ln>
                <a:solidFill>
                  <a:schemeClr val="accent2"/>
                </a:solidFill>
              </a:ln>
              <a:solidFill>
                <a:schemeClr val="accent2"/>
              </a:solidFill>
              <a:effectLst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cider= bubblly</a:t>
            </a:r>
            <a:endParaRPr lang="en-US" altLang="zh-CN"/>
          </a:p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7495" y="1323340"/>
            <a:ext cx="6426200" cy="248031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495" y="3752215"/>
            <a:ext cx="6450965" cy="310578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8460" y="1333500"/>
            <a:ext cx="4686300" cy="543687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608330" y="6350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https://www.kylehuang.design/cider</a:t>
            </a:r>
            <a:endParaRPr lang="zh-CN" altLang="en-US"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-33655"/>
            <a:ext cx="12192000" cy="689165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8425" y="-20955"/>
            <a:ext cx="11988800" cy="687895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lIns="90000" tIns="46800" rIns="90000" bIns="46800" rtlCol="0" anchor="ctr" anchorCtr="0">
            <a:norm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p>
            <a:pPr lvl="0" algn="l">
              <a:buClrTx/>
              <a:buSzTx/>
              <a:buFontTx/>
            </a:pPr>
            <a:r>
              <a:rPr lang="zh-CN" altLang="en-US">
                <a:ln>
                  <a:solidFill>
                    <a:schemeClr val="accent2"/>
                  </a:solidFill>
                </a:ln>
                <a:solidFill>
                  <a:schemeClr val="accent2"/>
                </a:solidFill>
                <a:effectLst/>
                <a:sym typeface="+mn-ea"/>
              </a:rPr>
              <a:t>红人矩阵</a:t>
            </a:r>
            <a:endParaRPr lang="zh-CN" altLang="en-US">
              <a:ln>
                <a:solidFill>
                  <a:schemeClr val="accent2"/>
                </a:solidFill>
              </a:ln>
              <a:solidFill>
                <a:schemeClr val="accent2"/>
              </a:solidFill>
              <a:effectLst/>
              <a:sym typeface="+mn-ea"/>
            </a:endParaRPr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rcRect b="2930"/>
          <a:stretch>
            <a:fillRect/>
          </a:stretch>
        </p:blipFill>
        <p:spPr>
          <a:xfrm>
            <a:off x="760095" y="2763520"/>
            <a:ext cx="8539480" cy="165608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60095" y="1841500"/>
            <a:ext cx="935545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平台选择：</a:t>
            </a:r>
            <a:r>
              <a:rPr lang="en-US" altLang="zh-CN"/>
              <a:t>INS</a:t>
            </a:r>
            <a:r>
              <a:rPr lang="zh-CN" altLang="en-US"/>
              <a:t>和</a:t>
            </a:r>
            <a:r>
              <a:rPr lang="en-US" altLang="zh-CN"/>
              <a:t>TIKTOK</a:t>
            </a:r>
            <a:r>
              <a:rPr lang="zh-CN" altLang="en-US"/>
              <a:t>为主要营销渠道，</a:t>
            </a:r>
            <a:r>
              <a:rPr lang="en-US" altLang="zh-CN"/>
              <a:t> </a:t>
            </a:r>
            <a:r>
              <a:rPr lang="zh-CN" altLang="en-US"/>
              <a:t>红人主要为尾部红人。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红人受众：</a:t>
            </a:r>
            <a:r>
              <a:rPr lang="en-US" altLang="zh-CN"/>
              <a:t> </a:t>
            </a:r>
            <a:r>
              <a:rPr lang="zh-CN" altLang="en-US"/>
              <a:t>年轻美国女性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内容：</a:t>
            </a:r>
            <a:r>
              <a:rPr lang="en-US" altLang="zh-CN"/>
              <a:t> giveaway, </a:t>
            </a:r>
            <a:r>
              <a:rPr lang="zh-CN" altLang="en-US"/>
              <a:t>场景着装搭配想法，</a:t>
            </a:r>
            <a:r>
              <a:rPr lang="en-US" altLang="zh-CN"/>
              <a:t> </a:t>
            </a:r>
            <a:r>
              <a:rPr lang="zh-CN" altLang="en-US"/>
              <a:t>试穿体验等等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lIns="90000" tIns="46800" rIns="90000" bIns="46800" rtlCol="0" anchor="ctr" anchorCtr="0">
            <a:norm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p>
            <a:pPr lvl="0" algn="l">
              <a:buClrTx/>
              <a:buSzTx/>
              <a:buFontTx/>
            </a:pPr>
            <a:r>
              <a:rPr lang="zh-CN" altLang="en-US" b="1">
                <a:ln>
                  <a:solidFill>
                    <a:schemeClr val="accent2"/>
                  </a:solidFill>
                </a:ln>
                <a:solidFill>
                  <a:schemeClr val="accent2"/>
                </a:solidFill>
                <a:effectLst/>
                <a:sym typeface="+mn-ea"/>
              </a:rPr>
              <a:t>社媒营销策略</a:t>
            </a:r>
            <a:endParaRPr lang="zh-CN" altLang="en-US" b="1">
              <a:ln>
                <a:solidFill>
                  <a:schemeClr val="accent2"/>
                </a:solidFill>
              </a:ln>
              <a:solidFill>
                <a:schemeClr val="accent2"/>
              </a:solidFill>
              <a:effectLst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平台选择：</a:t>
            </a:r>
            <a:r>
              <a:rPr lang="en-US" altLang="zh-CN"/>
              <a:t> CIDER重点布局Instagram、Facebook、TikTok等主流平台。根据不同平台特性创作内容，如在TikTok发布时尚穿搭视频，在Ins做品牌活动，有效提升品牌曝光度。</a:t>
            </a:r>
            <a:endParaRPr lang="en-US" altLang="zh-CN"/>
          </a:p>
          <a:p>
            <a:r>
              <a:rPr lang="zh-CN" altLang="en-US"/>
              <a:t>内容：CIDER在社交媒体主页上发布多元内容，包括“穿衣挑战”、“主题搭配”和“时尚点评”。通过模特真人出镜和多样化的穿搭展示，增强用户参与感，提高品牌互动频率，深化消费者对品牌的认知。</a:t>
            </a:r>
            <a:endParaRPr lang="zh-CN" altLang="en-US"/>
          </a:p>
          <a:p>
            <a:r>
              <a:rPr lang="zh-CN" altLang="en-US"/>
              <a:t>私域流量运营：Cider创建了一个名为Cider Gang的社区，并拥有自己的Instagram页面：通过使用标签#cidergang，成员可以在链接到Gang Instagram页面的公司网站的Instashop部分分享他们的服装通过设置专属粉丝群组和会员福利，加强与消费者的深度互动，提高客户留存率和品牌忠诚度。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p="http://schemas.openxmlformats.org/presentationml/2006/main">
  <p:tag name="commondata" val="eyJoZGlkIjoiNTJmNTU1Y2MzMjk1YzIwNWYzNTBmOWI5NjE5MmQyNTI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1124</Words>
  <Application>WPS 演示</Application>
  <PresentationFormat>宽屏</PresentationFormat>
  <Paragraphs>94</Paragraphs>
  <Slides>16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微软雅黑</vt:lpstr>
      <vt:lpstr>Lora</vt:lpstr>
      <vt:lpstr>Segoe Print</vt:lpstr>
      <vt:lpstr>-apple-system</vt:lpstr>
      <vt:lpstr>Arial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吕欢</cp:lastModifiedBy>
  <cp:revision>160</cp:revision>
  <dcterms:created xsi:type="dcterms:W3CDTF">2019-06-19T02:08:00Z</dcterms:created>
  <dcterms:modified xsi:type="dcterms:W3CDTF">2024-11-12T10:07:11Z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2052-12.1.0.18608</vt:lpwstr>
  </property>
  <property fmtid="{D5CDD505-2E9C-101B-9397-08002B2CF9AE}" pid="3" name="ICV">
    <vt:lpwstr>AFF7C70DD9C54EBAA9C1D8BD9FF6E3C5_11</vt:lpwstr>
  </property>
</Properties>
</file>